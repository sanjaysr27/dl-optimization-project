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Poppins"/>
      <p:regular r:id="rId31"/>
      <p:bold r:id="rId32"/>
      <p:italic r:id="rId33"/>
      <p:boldItalic r:id="rId34"/>
    </p:embeddedFont>
    <p:embeddedFont>
      <p:font typeface="Urbanist"/>
      <p:regular r:id="rId35"/>
      <p:bold r:id="rId36"/>
      <p:italic r:id="rId37"/>
      <p:boldItalic r:id="rId38"/>
    </p:embeddedFont>
    <p:embeddedFont>
      <p:font typeface="Poppins Medium"/>
      <p:regular r:id="rId39"/>
      <p:bold r:id="rId40"/>
      <p:italic r:id="rId41"/>
      <p:boldItalic r:id="rId42"/>
    </p:embeddedFont>
    <p:embeddedFont>
      <p:font typeface="DM Sans SemiBold"/>
      <p:regular r:id="rId43"/>
      <p:bold r:id="rId44"/>
      <p:italic r:id="rId45"/>
      <p:boldItalic r:id="rId46"/>
    </p:embeddedFont>
    <p:embeddedFont>
      <p:font typeface="Poppins SemiBold"/>
      <p:regular r:id="rId47"/>
      <p:bold r:id="rId48"/>
      <p:italic r:id="rId49"/>
      <p:boldItalic r:id="rId50"/>
    </p:embeddedFont>
    <p:embeddedFont>
      <p:font typeface="DM Sans"/>
      <p:regular r:id="rId51"/>
      <p:bold r:id="rId52"/>
      <p:italic r:id="rId53"/>
      <p:boldItalic r:id="rId54"/>
    </p:embeddedFont>
    <p:embeddedFont>
      <p:font typeface="Cambria Math"/>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1F869E-ADAB-4FA4-9030-482D71E61C17}">
  <a:tblStyle styleId="{241F869E-ADAB-4FA4-9030-482D71E61C1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fntdata"/><Relationship Id="rId42" Type="http://schemas.openxmlformats.org/officeDocument/2006/relationships/font" Target="fonts/PoppinsMedium-boldItalic.fntdata"/><Relationship Id="rId41" Type="http://schemas.openxmlformats.org/officeDocument/2006/relationships/font" Target="fonts/PoppinsMedium-italic.fntdata"/><Relationship Id="rId44" Type="http://schemas.openxmlformats.org/officeDocument/2006/relationships/font" Target="fonts/DMSansSemiBold-bold.fntdata"/><Relationship Id="rId43" Type="http://schemas.openxmlformats.org/officeDocument/2006/relationships/font" Target="fonts/DMSansSemiBold-regular.fntdata"/><Relationship Id="rId46" Type="http://schemas.openxmlformats.org/officeDocument/2006/relationships/font" Target="fonts/DMSansSemiBold-boldItalic.fntdata"/><Relationship Id="rId45" Type="http://schemas.openxmlformats.org/officeDocument/2006/relationships/font" Target="fonts/DMSa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fntdata"/><Relationship Id="rId47" Type="http://schemas.openxmlformats.org/officeDocument/2006/relationships/font" Target="fonts/PoppinsSemiBold-regular.fntdata"/><Relationship Id="rId49" Type="http://schemas.openxmlformats.org/officeDocument/2006/relationships/font" Target="fonts/PoppinsSemi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slide" Target="slides/slide24.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Urbanist-regular.fntdata"/><Relationship Id="rId34" Type="http://schemas.openxmlformats.org/officeDocument/2006/relationships/font" Target="fonts/Poppins-boldItalic.fntdata"/><Relationship Id="rId37" Type="http://schemas.openxmlformats.org/officeDocument/2006/relationships/font" Target="fonts/Urbanist-italic.fntdata"/><Relationship Id="rId36" Type="http://schemas.openxmlformats.org/officeDocument/2006/relationships/font" Target="fonts/Urbanist-bold.fntdata"/><Relationship Id="rId39" Type="http://schemas.openxmlformats.org/officeDocument/2006/relationships/font" Target="fonts/PoppinsMedium-regular.fntdata"/><Relationship Id="rId38" Type="http://schemas.openxmlformats.org/officeDocument/2006/relationships/font" Target="fonts/Urbanis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Sans-regular.fntdata"/><Relationship Id="rId50" Type="http://schemas.openxmlformats.org/officeDocument/2006/relationships/font" Target="fonts/PoppinsSemiBold-boldItalic.fntdata"/><Relationship Id="rId53" Type="http://schemas.openxmlformats.org/officeDocument/2006/relationships/font" Target="fonts/DMSans-italic.fntdata"/><Relationship Id="rId52" Type="http://schemas.openxmlformats.org/officeDocument/2006/relationships/font" Target="fonts/DMSans-bold.fntdata"/><Relationship Id="rId11" Type="http://schemas.openxmlformats.org/officeDocument/2006/relationships/slide" Target="slides/slide5.xml"/><Relationship Id="rId55" Type="http://schemas.openxmlformats.org/officeDocument/2006/relationships/font" Target="fonts/CambriaMath-regular.fntdata"/><Relationship Id="rId10" Type="http://schemas.openxmlformats.org/officeDocument/2006/relationships/slide" Target="slides/slide4.xml"/><Relationship Id="rId54" Type="http://schemas.openxmlformats.org/officeDocument/2006/relationships/font" Target="fonts/DM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81f68d663_1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81f68d663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81f68d66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3f81f68d66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81f68d6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f81f68d663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81f68d663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f81f68d663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81f68d66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3f81f68d663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81f68d663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f81f68d663_1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81f68d66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f81f68d663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81f68d663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f81f68d663_1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81f68d66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f81f68d663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81f68d663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3f81f68d663_1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3.png"/><Relationship Id="rId7"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3.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3.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31.png"/><Relationship Id="rId6" Type="http://schemas.openxmlformats.org/officeDocument/2006/relationships/image" Target="../media/image3.png"/><Relationship Id="rId7" Type="http://schemas.openxmlformats.org/officeDocument/2006/relationships/image" Target="../media/image28.png"/><Relationship Id="rId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28.png"/><Relationship Id="rId6"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41.png"/><Relationship Id="rId5" Type="http://schemas.openxmlformats.org/officeDocument/2006/relationships/image" Target="../media/image33.png"/><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41.png"/><Relationship Id="rId5" Type="http://schemas.openxmlformats.org/officeDocument/2006/relationships/image" Target="../media/image33.png"/><Relationship Id="rId6" Type="http://schemas.openxmlformats.org/officeDocument/2006/relationships/image" Target="../media/image46.png"/><Relationship Id="rId7" Type="http://schemas.openxmlformats.org/officeDocument/2006/relationships/image" Target="../media/image43.png"/><Relationship Id="rId8"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50.png"/><Relationship Id="rId7" Type="http://schemas.openxmlformats.org/officeDocument/2006/relationships/image" Target="../media/image55.png"/><Relationship Id="rId8"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38.png"/><Relationship Id="rId7" Type="http://schemas.openxmlformats.org/officeDocument/2006/relationships/image" Target="../media/image5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48.png"/><Relationship Id="rId7" Type="http://schemas.openxmlformats.org/officeDocument/2006/relationships/image" Target="../media/image56.png"/><Relationship Id="rId8"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51.png"/><Relationship Id="rId6" Type="http://schemas.openxmlformats.org/officeDocument/2006/relationships/image" Target="../media/image35.png"/><Relationship Id="rId7"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62.png"/><Relationship Id="rId7" Type="http://schemas.openxmlformats.org/officeDocument/2006/relationships/image" Target="../media/image6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66.png"/><Relationship Id="rId7" Type="http://schemas.openxmlformats.org/officeDocument/2006/relationships/image" Target="../media/image56.png"/><Relationship Id="rId8"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1.png"/><Relationship Id="rId5" Type="http://schemas.openxmlformats.org/officeDocument/2006/relationships/image" Target="../media/image1.png"/><Relationship Id="rId6" Type="http://schemas.openxmlformats.org/officeDocument/2006/relationships/image" Target="../media/image6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61.png"/><Relationship Id="rId5" Type="http://schemas.openxmlformats.org/officeDocument/2006/relationships/image" Target="../media/image1.png"/><Relationship Id="rId6"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005363" y="2114550"/>
            <a:ext cx="101814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5F5F5"/>
                </a:solidFill>
                <a:latin typeface="Urbanist"/>
                <a:ea typeface="Urbanist"/>
                <a:cs typeface="Urbanist"/>
                <a:sym typeface="Urbanist"/>
              </a:rPr>
              <a:t>D</a:t>
            </a:r>
            <a:r>
              <a:rPr b="1" lang="en-US" sz="6000">
                <a:solidFill>
                  <a:srgbClr val="F5F5F5"/>
                </a:solidFill>
                <a:latin typeface="Urbanist"/>
                <a:ea typeface="Urbanist"/>
                <a:cs typeface="Urbanist"/>
                <a:sym typeface="Urbanist"/>
              </a:rPr>
              <a:t>L Model</a:t>
            </a:r>
            <a:r>
              <a:rPr b="1" i="0" lang="en-US" sz="6000" u="none" cap="none" strike="noStrike">
                <a:solidFill>
                  <a:srgbClr val="F5F5F5"/>
                </a:solidFill>
                <a:latin typeface="Urbanist"/>
                <a:ea typeface="Urbanist"/>
                <a:cs typeface="Urbanist"/>
                <a:sym typeface="Urbanist"/>
              </a:rPr>
              <a:t> </a:t>
            </a:r>
            <a:r>
              <a:rPr b="1" i="0" lang="en-US" sz="6000" u="none" cap="none" strike="noStrike">
                <a:solidFill>
                  <a:srgbClr val="DEFF9A"/>
                </a:solidFill>
                <a:latin typeface="Urbanist"/>
                <a:ea typeface="Urbanist"/>
                <a:cs typeface="Urbanist"/>
                <a:sym typeface="Urbanist"/>
              </a:rPr>
              <a:t>Optimization</a:t>
            </a:r>
            <a:endParaRPr/>
          </a:p>
        </p:txBody>
      </p:sp>
      <p:sp>
        <p:nvSpPr>
          <p:cNvPr id="86" name="Google Shape;86;p13"/>
          <p:cNvSpPr txBox="1"/>
          <p:nvPr/>
        </p:nvSpPr>
        <p:spPr>
          <a:xfrm>
            <a:off x="2357475" y="4017175"/>
            <a:ext cx="7477200" cy="32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100">
                <a:solidFill>
                  <a:srgbClr val="DAFFDE"/>
                </a:solidFill>
                <a:latin typeface="Urbanist"/>
                <a:ea typeface="Urbanist"/>
                <a:cs typeface="Urbanist"/>
                <a:sym typeface="Urbanist"/>
              </a:rPr>
              <a:t>for </a:t>
            </a:r>
            <a:r>
              <a:rPr b="0" i="0" lang="en-US" sz="2100" u="none" cap="none" strike="noStrike">
                <a:solidFill>
                  <a:srgbClr val="DAFFDE"/>
                </a:solidFill>
                <a:latin typeface="Urbanist"/>
                <a:ea typeface="Urbanist"/>
                <a:cs typeface="Urbanist"/>
                <a:sym typeface="Urbanist"/>
              </a:rPr>
              <a:t>Embedded Systems Deployment (leather image analysis</a:t>
            </a:r>
            <a:r>
              <a:rPr lang="en-US" sz="2100">
                <a:solidFill>
                  <a:srgbClr val="DAFFDE"/>
                </a:solidFill>
                <a:latin typeface="Urbanist"/>
                <a:ea typeface="Urbanist"/>
                <a:cs typeface="Urbanist"/>
                <a:sym typeface="Urbanist"/>
              </a:rPr>
              <a:t>)</a:t>
            </a:r>
            <a:endParaRPr/>
          </a:p>
        </p:txBody>
      </p:sp>
      <p:pic>
        <p:nvPicPr>
          <p:cNvPr descr="image.png" id="87" name="Google Shape;87;p13"/>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8" name="Google Shape;88;p13"/>
          <p:cNvSpPr txBox="1"/>
          <p:nvPr/>
        </p:nvSpPr>
        <p:spPr>
          <a:xfrm>
            <a:off x="1005363" y="2114550"/>
            <a:ext cx="101814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5F5F5"/>
                </a:solidFill>
                <a:latin typeface="Urbanist"/>
                <a:ea typeface="Urbanist"/>
                <a:cs typeface="Urbanist"/>
                <a:sym typeface="Urbanist"/>
              </a:rPr>
              <a:t>D</a:t>
            </a:r>
            <a:r>
              <a:rPr b="1" lang="en-US" sz="6000">
                <a:solidFill>
                  <a:srgbClr val="F5F5F5"/>
                </a:solidFill>
                <a:latin typeface="Urbanist"/>
                <a:ea typeface="Urbanist"/>
                <a:cs typeface="Urbanist"/>
                <a:sym typeface="Urbanist"/>
              </a:rPr>
              <a:t>L Model</a:t>
            </a:r>
            <a:r>
              <a:rPr b="1" i="0" lang="en-US" sz="6000" u="none" cap="none" strike="noStrike">
                <a:solidFill>
                  <a:srgbClr val="F5F5F5"/>
                </a:solidFill>
                <a:latin typeface="Urbanist"/>
                <a:ea typeface="Urbanist"/>
                <a:cs typeface="Urbanist"/>
                <a:sym typeface="Urbanist"/>
              </a:rPr>
              <a:t> </a:t>
            </a:r>
            <a:r>
              <a:rPr b="1" i="0" lang="en-US" sz="6000" u="none" cap="none" strike="noStrike">
                <a:solidFill>
                  <a:srgbClr val="DEFF9A"/>
                </a:solidFill>
                <a:latin typeface="Urbanist"/>
                <a:ea typeface="Urbanist"/>
                <a:cs typeface="Urbanist"/>
                <a:sym typeface="Urbanist"/>
              </a:rPr>
              <a:t>Optimization</a:t>
            </a:r>
            <a:endParaRPr/>
          </a:p>
        </p:txBody>
      </p:sp>
      <p:sp>
        <p:nvSpPr>
          <p:cNvPr id="89" name="Google Shape;89;p13"/>
          <p:cNvSpPr txBox="1"/>
          <p:nvPr/>
        </p:nvSpPr>
        <p:spPr>
          <a:xfrm>
            <a:off x="2357475" y="3524625"/>
            <a:ext cx="7477200" cy="32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100">
                <a:solidFill>
                  <a:srgbClr val="DAFFDE"/>
                </a:solidFill>
                <a:latin typeface="Urbanist"/>
                <a:ea typeface="Urbanist"/>
                <a:cs typeface="Urbanist"/>
                <a:sym typeface="Urbanist"/>
              </a:rPr>
              <a:t>for </a:t>
            </a:r>
            <a:r>
              <a:rPr b="0" i="0" lang="en-US" sz="2100" u="none" cap="none" strike="noStrike">
                <a:solidFill>
                  <a:srgbClr val="DAFFDE"/>
                </a:solidFill>
                <a:latin typeface="Urbanist"/>
                <a:ea typeface="Urbanist"/>
                <a:cs typeface="Urbanist"/>
                <a:sym typeface="Urbanist"/>
              </a:rPr>
              <a:t>Embedded Systems Deployment </a:t>
            </a:r>
            <a:r>
              <a:rPr lang="en-US" sz="2100">
                <a:solidFill>
                  <a:srgbClr val="DAFFDE"/>
                </a:solidFill>
                <a:latin typeface="Urbanist"/>
                <a:ea typeface="Urbanist"/>
                <a:cs typeface="Urbanist"/>
                <a:sym typeface="Urbanist"/>
              </a:rPr>
              <a:t>in Leather Applications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9810750" y="-419100"/>
            <a:ext cx="2857500" cy="28575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762000" y="4762500"/>
            <a:ext cx="2857500" cy="2857500"/>
          </a:xfrm>
          <a:prstGeom prst="rect">
            <a:avLst/>
          </a:prstGeom>
          <a:noFill/>
          <a:ln>
            <a:noFill/>
          </a:ln>
        </p:spPr>
      </p:pic>
      <p:pic>
        <p:nvPicPr>
          <p:cNvPr descr="image.png" id="96" name="Google Shape;96;p14"/>
          <p:cNvPicPr preferRelativeResize="0"/>
          <p:nvPr/>
        </p:nvPicPr>
        <p:blipFill rotWithShape="1">
          <a:blip r:embed="rId5">
            <a:alphaModFix/>
          </a:blip>
          <a:srcRect b="0" l="0" r="0" t="0"/>
          <a:stretch/>
        </p:blipFill>
        <p:spPr>
          <a:xfrm>
            <a:off x="619125" y="6429375"/>
            <a:ext cx="10953750" cy="238125"/>
          </a:xfrm>
          <a:prstGeom prst="rect">
            <a:avLst/>
          </a:prstGeom>
          <a:noFill/>
          <a:ln>
            <a:noFill/>
          </a:ln>
        </p:spPr>
      </p:pic>
      <p:sp>
        <p:nvSpPr>
          <p:cNvPr id="97" name="Google Shape;97;p14"/>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8" name="Google Shape;98;p14"/>
          <p:cNvPicPr preferRelativeResize="0"/>
          <p:nvPr/>
        </p:nvPicPr>
        <p:blipFill rotWithShape="1">
          <a:blip r:embed="rId6">
            <a:alphaModFix/>
          </a:blip>
          <a:srcRect b="0" l="0" r="0" t="0"/>
          <a:stretch/>
        </p:blipFill>
        <p:spPr>
          <a:xfrm>
            <a:off x="619125" y="590550"/>
            <a:ext cx="185737" cy="247650"/>
          </a:xfrm>
          <a:prstGeom prst="rect">
            <a:avLst/>
          </a:prstGeom>
          <a:noFill/>
          <a:ln>
            <a:noFill/>
          </a:ln>
        </p:spPr>
      </p:pic>
      <p:sp>
        <p:nvSpPr>
          <p:cNvPr id="99" name="Google Shape;99;p14"/>
          <p:cNvSpPr txBox="1"/>
          <p:nvPr/>
        </p:nvSpPr>
        <p:spPr>
          <a:xfrm>
            <a:off x="619125" y="1314450"/>
            <a:ext cx="10953750"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284C7"/>
                </a:solidFill>
                <a:latin typeface="DM Sans SemiBold"/>
                <a:ea typeface="DM Sans SemiBold"/>
                <a:cs typeface="DM Sans SemiBold"/>
                <a:sym typeface="DM Sans SemiBold"/>
              </a:rPr>
              <a:t>Automatic Surface Inspection Background</a:t>
            </a:r>
            <a:endParaRPr/>
          </a:p>
        </p:txBody>
      </p:sp>
      <p:sp>
        <p:nvSpPr>
          <p:cNvPr id="100" name="Google Shape;100;p14"/>
          <p:cNvSpPr txBox="1"/>
          <p:nvPr/>
        </p:nvSpPr>
        <p:spPr>
          <a:xfrm>
            <a:off x="619125" y="1762125"/>
            <a:ext cx="109537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DM Sans"/>
                <a:ea typeface="DM Sans"/>
                <a:cs typeface="DM Sans"/>
                <a:sym typeface="DM Sans"/>
              </a:rPr>
              <a:t>Automatic surface inspection acts as a backbone for modern quality control systems, especially for manufacturing sectors like leather. Accurate classification of leather into defective (hole, cut, scratch, insect bite) and non defective is an essential first step in leather processing.</a:t>
            </a:r>
            <a:endParaRPr/>
          </a:p>
        </p:txBody>
      </p:sp>
      <p:sp>
        <p:nvSpPr>
          <p:cNvPr id="101" name="Google Shape;101;p14"/>
          <p:cNvSpPr txBox="1"/>
          <p:nvPr/>
        </p:nvSpPr>
        <p:spPr>
          <a:xfrm>
            <a:off x="619125" y="2440185"/>
            <a:ext cx="109537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DM Sans"/>
                <a:ea typeface="DM Sans"/>
                <a:cs typeface="DM Sans"/>
                <a:sym typeface="DM Sans"/>
              </a:rPr>
              <a:t>Traditional methods rely on manual inspection of leather by trained professionals, but this is highly time consuming, prone to human error due to overworking. With the emergence of deep learning techniques for image classification, it is possible to automate this process with the help of high resolution images.</a:t>
            </a:r>
            <a:endParaRPr/>
          </a:p>
        </p:txBody>
      </p:sp>
      <p:sp>
        <p:nvSpPr>
          <p:cNvPr id="102" name="Google Shape;102;p14"/>
          <p:cNvSpPr txBox="1"/>
          <p:nvPr/>
        </p:nvSpPr>
        <p:spPr>
          <a:xfrm>
            <a:off x="619125" y="3362027"/>
            <a:ext cx="109537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0F172A"/>
                </a:solidFill>
                <a:latin typeface="DM Sans SemiBold"/>
                <a:ea typeface="DM Sans SemiBold"/>
                <a:cs typeface="DM Sans SemiBold"/>
                <a:sym typeface="DM Sans SemiBold"/>
              </a:rPr>
              <a:t>This project aims to optimize Convolutional Neural Networks to be able to deploy them onto resource constrained systems such as Jetson TX2.</a:t>
            </a:r>
            <a:endParaRPr/>
          </a:p>
        </p:txBody>
      </p:sp>
      <p:sp>
        <p:nvSpPr>
          <p:cNvPr id="103" name="Google Shape;103;p14"/>
          <p:cNvSpPr txBox="1"/>
          <p:nvPr/>
        </p:nvSpPr>
        <p:spPr>
          <a:xfrm>
            <a:off x="619125" y="6534150"/>
            <a:ext cx="20859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Report</a:t>
            </a:r>
            <a:r>
              <a:rPr lang="en-US" sz="825">
                <a:solidFill>
                  <a:srgbClr val="94A3B8"/>
                </a:solidFill>
                <a:latin typeface="DM Sans"/>
                <a:ea typeface="DM Sans"/>
                <a:cs typeface="DM Sans"/>
                <a:sym typeface="DM Sans"/>
              </a:rPr>
              <a:t>: DL</a:t>
            </a:r>
            <a:r>
              <a:rPr b="0" i="0" lang="en-US" sz="825" u="none" cap="none" strike="noStrike">
                <a:solidFill>
                  <a:srgbClr val="94A3B8"/>
                </a:solidFill>
                <a:latin typeface="DM Sans"/>
                <a:ea typeface="DM Sans"/>
                <a:cs typeface="DM Sans"/>
                <a:sym typeface="DM Sans"/>
              </a:rPr>
              <a:t> Optimization </a:t>
            </a:r>
            <a:r>
              <a:rPr lang="en-US" sz="825">
                <a:solidFill>
                  <a:srgbClr val="94A3B8"/>
                </a:solidFill>
                <a:latin typeface="DM Sans"/>
                <a:ea typeface="DM Sans"/>
                <a:cs typeface="DM Sans"/>
                <a:sym typeface="DM Sans"/>
              </a:rPr>
              <a:t>for Embedded System Applications</a:t>
            </a:r>
            <a:endParaRPr/>
          </a:p>
        </p:txBody>
      </p:sp>
      <p:sp>
        <p:nvSpPr>
          <p:cNvPr id="104" name="Google Shape;104;p14"/>
          <p:cNvSpPr txBox="1"/>
          <p:nvPr/>
        </p:nvSpPr>
        <p:spPr>
          <a:xfrm>
            <a:off x="11029950" y="6534150"/>
            <a:ext cx="5429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 of 14</a:t>
            </a:r>
            <a:endParaRPr/>
          </a:p>
        </p:txBody>
      </p:sp>
      <p:sp>
        <p:nvSpPr>
          <p:cNvPr id="105" name="Google Shape;105;p14"/>
          <p:cNvSpPr txBox="1"/>
          <p:nvPr/>
        </p:nvSpPr>
        <p:spPr>
          <a:xfrm>
            <a:off x="919162" y="485775"/>
            <a:ext cx="1118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1.1: Introduction</a:t>
            </a:r>
            <a:endParaRPr/>
          </a:p>
        </p:txBody>
      </p:sp>
      <p:sp>
        <p:nvSpPr>
          <p:cNvPr id="106" name="Google Shape;106;p14"/>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9810750" y="-419100"/>
            <a:ext cx="2857500" cy="2857500"/>
          </a:xfrm>
          <a:prstGeom prst="rect">
            <a:avLst/>
          </a:prstGeom>
          <a:noFill/>
          <a:ln>
            <a:noFill/>
          </a:ln>
        </p:spPr>
      </p:pic>
      <p:pic>
        <p:nvPicPr>
          <p:cNvPr descr="image.png" id="112" name="Google Shape;112;p15"/>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113" name="Google Shape;113;p15"/>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4" name="Google Shape;114;p15"/>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115" name="Google Shape;115;p15"/>
          <p:cNvSpPr txBox="1"/>
          <p:nvPr/>
        </p:nvSpPr>
        <p:spPr>
          <a:xfrm>
            <a:off x="11001375" y="6534150"/>
            <a:ext cx="5715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2 of 14</a:t>
            </a:r>
            <a:endParaRPr/>
          </a:p>
        </p:txBody>
      </p:sp>
      <p:sp>
        <p:nvSpPr>
          <p:cNvPr id="116" name="Google Shape;116;p15"/>
          <p:cNvSpPr txBox="1"/>
          <p:nvPr/>
        </p:nvSpPr>
        <p:spPr>
          <a:xfrm>
            <a:off x="952500" y="1314450"/>
            <a:ext cx="10620375"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0F172A"/>
                </a:solidFill>
                <a:latin typeface="DM Sans SemiBold"/>
                <a:ea typeface="DM Sans SemiBold"/>
                <a:cs typeface="DM Sans SemiBold"/>
                <a:sym typeface="DM Sans SemiBold"/>
              </a:rPr>
              <a:t>Literature Survey:</a:t>
            </a:r>
            <a:r>
              <a:rPr b="0" i="0" lang="en-US" sz="1125" u="none" cap="none" strike="noStrike">
                <a:solidFill>
                  <a:srgbClr val="334155"/>
                </a:solidFill>
                <a:latin typeface="DM Sans"/>
                <a:ea typeface="DM Sans"/>
                <a:cs typeface="DM Sans"/>
                <a:sym typeface="DM Sans"/>
              </a:rPr>
              <a:t> Conduct a review of the available research papers on optimization of deep learning models to be deployed on a resource constrained system.</a:t>
            </a:r>
            <a:endParaRPr/>
          </a:p>
        </p:txBody>
      </p:sp>
      <p:sp>
        <p:nvSpPr>
          <p:cNvPr id="117" name="Google Shape;117;p15"/>
          <p:cNvSpPr txBox="1"/>
          <p:nvPr/>
        </p:nvSpPr>
        <p:spPr>
          <a:xfrm>
            <a:off x="952500" y="1885950"/>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Determine the architectures to train and optimize and determine the optimization techniques to use from the literature review.</a:t>
            </a:r>
            <a:endParaRPr/>
          </a:p>
        </p:txBody>
      </p:sp>
      <p:sp>
        <p:nvSpPr>
          <p:cNvPr id="118" name="Google Shape;118;p15"/>
          <p:cNvSpPr txBox="1"/>
          <p:nvPr/>
        </p:nvSpPr>
        <p:spPr>
          <a:xfrm>
            <a:off x="952500" y="2243137"/>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Create and train the models with different optimization techniques.</a:t>
            </a:r>
            <a:endParaRPr/>
          </a:p>
        </p:txBody>
      </p:sp>
      <p:sp>
        <p:nvSpPr>
          <p:cNvPr id="119" name="Google Shape;119;p15"/>
          <p:cNvSpPr txBox="1"/>
          <p:nvPr/>
        </p:nvSpPr>
        <p:spPr>
          <a:xfrm>
            <a:off x="952500" y="2600325"/>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Make a script to train the base models and perform different optimization techniques, fine tune after optimization and finally store the optimized techniques.</a:t>
            </a:r>
            <a:endParaRPr/>
          </a:p>
        </p:txBody>
      </p:sp>
      <p:sp>
        <p:nvSpPr>
          <p:cNvPr id="120" name="Google Shape;120;p15"/>
          <p:cNvSpPr txBox="1"/>
          <p:nvPr/>
        </p:nvSpPr>
        <p:spPr>
          <a:xfrm>
            <a:off x="952500" y="2957512"/>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Configure Jetson TX2 board to run the models on the board.</a:t>
            </a:r>
            <a:endParaRPr/>
          </a:p>
        </p:txBody>
      </p:sp>
      <p:sp>
        <p:nvSpPr>
          <p:cNvPr id="121" name="Google Shape;121;p15"/>
          <p:cNvSpPr txBox="1"/>
          <p:nvPr/>
        </p:nvSpPr>
        <p:spPr>
          <a:xfrm>
            <a:off x="952500" y="3314700"/>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Implement and evaluate the models and optimization techniques on the boards.</a:t>
            </a:r>
            <a:endParaRPr/>
          </a:p>
        </p:txBody>
      </p:sp>
      <p:sp>
        <p:nvSpPr>
          <p:cNvPr id="122" name="Google Shape;122;p15"/>
          <p:cNvSpPr txBox="1"/>
          <p:nvPr/>
        </p:nvSpPr>
        <p:spPr>
          <a:xfrm>
            <a:off x="952500" y="3671887"/>
            <a:ext cx="10620375"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Perform the comparative study of the results.</a:t>
            </a:r>
            <a:endParaRPr/>
          </a:p>
        </p:txBody>
      </p:sp>
      <p:pic>
        <p:nvPicPr>
          <p:cNvPr descr="image.png" id="123" name="Google Shape;123;p15"/>
          <p:cNvPicPr preferRelativeResize="0"/>
          <p:nvPr/>
        </p:nvPicPr>
        <p:blipFill rotWithShape="1">
          <a:blip r:embed="rId6">
            <a:alphaModFix/>
          </a:blip>
          <a:srcRect b="0" l="0" r="0" t="0"/>
          <a:stretch/>
        </p:blipFill>
        <p:spPr>
          <a:xfrm>
            <a:off x="666750" y="1338262"/>
            <a:ext cx="171450" cy="180975"/>
          </a:xfrm>
          <a:prstGeom prst="rect">
            <a:avLst/>
          </a:prstGeom>
          <a:noFill/>
          <a:ln>
            <a:noFill/>
          </a:ln>
        </p:spPr>
      </p:pic>
      <p:pic>
        <p:nvPicPr>
          <p:cNvPr descr="image.png" id="124" name="Google Shape;124;p15"/>
          <p:cNvPicPr preferRelativeResize="0"/>
          <p:nvPr/>
        </p:nvPicPr>
        <p:blipFill rotWithShape="1">
          <a:blip r:embed="rId6">
            <a:alphaModFix/>
          </a:blip>
          <a:srcRect b="0" l="0" r="0" t="0"/>
          <a:stretch/>
        </p:blipFill>
        <p:spPr>
          <a:xfrm>
            <a:off x="666750" y="1909762"/>
            <a:ext cx="171450" cy="180975"/>
          </a:xfrm>
          <a:prstGeom prst="rect">
            <a:avLst/>
          </a:prstGeom>
          <a:noFill/>
          <a:ln>
            <a:noFill/>
          </a:ln>
        </p:spPr>
      </p:pic>
      <p:pic>
        <p:nvPicPr>
          <p:cNvPr descr="image.png" id="125" name="Google Shape;125;p15"/>
          <p:cNvPicPr preferRelativeResize="0"/>
          <p:nvPr/>
        </p:nvPicPr>
        <p:blipFill rotWithShape="1">
          <a:blip r:embed="rId6">
            <a:alphaModFix/>
          </a:blip>
          <a:srcRect b="0" l="0" r="0" t="0"/>
          <a:stretch/>
        </p:blipFill>
        <p:spPr>
          <a:xfrm>
            <a:off x="666750" y="2266950"/>
            <a:ext cx="171450" cy="180975"/>
          </a:xfrm>
          <a:prstGeom prst="rect">
            <a:avLst/>
          </a:prstGeom>
          <a:noFill/>
          <a:ln>
            <a:noFill/>
          </a:ln>
        </p:spPr>
      </p:pic>
      <p:pic>
        <p:nvPicPr>
          <p:cNvPr descr="image.png" id="126" name="Google Shape;126;p15"/>
          <p:cNvPicPr preferRelativeResize="0"/>
          <p:nvPr/>
        </p:nvPicPr>
        <p:blipFill rotWithShape="1">
          <a:blip r:embed="rId6">
            <a:alphaModFix/>
          </a:blip>
          <a:srcRect b="0" l="0" r="0" t="0"/>
          <a:stretch/>
        </p:blipFill>
        <p:spPr>
          <a:xfrm>
            <a:off x="666750" y="2624137"/>
            <a:ext cx="171450" cy="180975"/>
          </a:xfrm>
          <a:prstGeom prst="rect">
            <a:avLst/>
          </a:prstGeom>
          <a:noFill/>
          <a:ln>
            <a:noFill/>
          </a:ln>
        </p:spPr>
      </p:pic>
      <p:pic>
        <p:nvPicPr>
          <p:cNvPr descr="image.png" id="127" name="Google Shape;127;p15"/>
          <p:cNvPicPr preferRelativeResize="0"/>
          <p:nvPr/>
        </p:nvPicPr>
        <p:blipFill rotWithShape="1">
          <a:blip r:embed="rId6">
            <a:alphaModFix/>
          </a:blip>
          <a:srcRect b="0" l="0" r="0" t="0"/>
          <a:stretch/>
        </p:blipFill>
        <p:spPr>
          <a:xfrm>
            <a:off x="666750" y="2981325"/>
            <a:ext cx="171450" cy="180975"/>
          </a:xfrm>
          <a:prstGeom prst="rect">
            <a:avLst/>
          </a:prstGeom>
          <a:noFill/>
          <a:ln>
            <a:noFill/>
          </a:ln>
        </p:spPr>
      </p:pic>
      <p:pic>
        <p:nvPicPr>
          <p:cNvPr descr="image.png" id="128" name="Google Shape;128;p15"/>
          <p:cNvPicPr preferRelativeResize="0"/>
          <p:nvPr/>
        </p:nvPicPr>
        <p:blipFill rotWithShape="1">
          <a:blip r:embed="rId6">
            <a:alphaModFix/>
          </a:blip>
          <a:srcRect b="0" l="0" r="0" t="0"/>
          <a:stretch/>
        </p:blipFill>
        <p:spPr>
          <a:xfrm>
            <a:off x="666750" y="3338512"/>
            <a:ext cx="171450" cy="180975"/>
          </a:xfrm>
          <a:prstGeom prst="rect">
            <a:avLst/>
          </a:prstGeom>
          <a:noFill/>
          <a:ln>
            <a:noFill/>
          </a:ln>
        </p:spPr>
      </p:pic>
      <p:pic>
        <p:nvPicPr>
          <p:cNvPr descr="image.png" id="129" name="Google Shape;129;p15"/>
          <p:cNvPicPr preferRelativeResize="0"/>
          <p:nvPr/>
        </p:nvPicPr>
        <p:blipFill rotWithShape="1">
          <a:blip r:embed="rId6">
            <a:alphaModFix/>
          </a:blip>
          <a:srcRect b="0" l="0" r="0" t="0"/>
          <a:stretch/>
        </p:blipFill>
        <p:spPr>
          <a:xfrm>
            <a:off x="666750" y="3695700"/>
            <a:ext cx="171450" cy="180975"/>
          </a:xfrm>
          <a:prstGeom prst="rect">
            <a:avLst/>
          </a:prstGeom>
          <a:noFill/>
          <a:ln>
            <a:noFill/>
          </a:ln>
        </p:spPr>
      </p:pic>
      <p:sp>
        <p:nvSpPr>
          <p:cNvPr id="130" name="Google Shape;130;p15"/>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1.2: Objectives</a:t>
            </a:r>
            <a:endParaRPr/>
          </a:p>
        </p:txBody>
      </p:sp>
      <p:sp>
        <p:nvSpPr>
          <p:cNvPr id="131" name="Google Shape;131;p15"/>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5" name="Shape 135"/>
        <p:cNvGrpSpPr/>
        <p:nvPr/>
      </p:nvGrpSpPr>
      <p:grpSpPr>
        <a:xfrm>
          <a:off x="0" y="0"/>
          <a:ext cx="0" cy="0"/>
          <a:chOff x="0" y="0"/>
          <a:chExt cx="0" cy="0"/>
        </a:xfrm>
      </p:grpSpPr>
      <p:pic>
        <p:nvPicPr>
          <p:cNvPr descr="image.png" id="136" name="Google Shape;136;p16"/>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137" name="Google Shape;137;p16"/>
          <p:cNvPicPr preferRelativeResize="0"/>
          <p:nvPr/>
        </p:nvPicPr>
        <p:blipFill rotWithShape="1">
          <a:blip r:embed="rId4">
            <a:alphaModFix/>
          </a:blip>
          <a:srcRect b="0" l="0" r="0" t="0"/>
          <a:stretch/>
        </p:blipFill>
        <p:spPr>
          <a:xfrm>
            <a:off x="619125" y="1314450"/>
            <a:ext cx="5357812" cy="3276600"/>
          </a:xfrm>
          <a:prstGeom prst="rect">
            <a:avLst/>
          </a:prstGeom>
          <a:noFill/>
          <a:ln>
            <a:noFill/>
          </a:ln>
        </p:spPr>
      </p:pic>
      <p:pic>
        <p:nvPicPr>
          <p:cNvPr descr="image.png" id="138" name="Google Shape;138;p16"/>
          <p:cNvPicPr preferRelativeResize="0"/>
          <p:nvPr/>
        </p:nvPicPr>
        <p:blipFill rotWithShape="1">
          <a:blip r:embed="rId5">
            <a:alphaModFix/>
          </a:blip>
          <a:srcRect b="0" l="0" r="0" t="0"/>
          <a:stretch/>
        </p:blipFill>
        <p:spPr>
          <a:xfrm>
            <a:off x="6215062" y="1314450"/>
            <a:ext cx="5357812" cy="3276600"/>
          </a:xfrm>
          <a:prstGeom prst="rect">
            <a:avLst/>
          </a:prstGeom>
          <a:noFill/>
          <a:ln>
            <a:noFill/>
          </a:ln>
        </p:spPr>
      </p:pic>
      <p:pic>
        <p:nvPicPr>
          <p:cNvPr descr="image.png" id="139" name="Google Shape;139;p16"/>
          <p:cNvPicPr preferRelativeResize="0"/>
          <p:nvPr/>
        </p:nvPicPr>
        <p:blipFill rotWithShape="1">
          <a:blip r:embed="rId6">
            <a:alphaModFix/>
          </a:blip>
          <a:srcRect b="0" l="0" r="0" t="0"/>
          <a:stretch/>
        </p:blipFill>
        <p:spPr>
          <a:xfrm>
            <a:off x="619125" y="6429375"/>
            <a:ext cx="10953750" cy="238125"/>
          </a:xfrm>
          <a:prstGeom prst="rect">
            <a:avLst/>
          </a:prstGeom>
          <a:noFill/>
          <a:ln>
            <a:noFill/>
          </a:ln>
        </p:spPr>
      </p:pic>
      <p:sp>
        <p:nvSpPr>
          <p:cNvPr id="140" name="Google Shape;140;p16"/>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1" name="Google Shape;141;p16"/>
          <p:cNvPicPr preferRelativeResize="0"/>
          <p:nvPr/>
        </p:nvPicPr>
        <p:blipFill rotWithShape="1">
          <a:blip r:embed="rId7">
            <a:alphaModFix/>
          </a:blip>
          <a:srcRect b="0" l="0" r="0" t="0"/>
          <a:stretch/>
        </p:blipFill>
        <p:spPr>
          <a:xfrm>
            <a:off x="619125" y="590550"/>
            <a:ext cx="271462" cy="247650"/>
          </a:xfrm>
          <a:prstGeom prst="rect">
            <a:avLst/>
          </a:prstGeom>
          <a:noFill/>
          <a:ln>
            <a:noFill/>
          </a:ln>
        </p:spPr>
      </p:pic>
      <p:sp>
        <p:nvSpPr>
          <p:cNvPr id="142" name="Google Shape;142;p16"/>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3 of 14</a:t>
            </a:r>
            <a:endParaRPr/>
          </a:p>
        </p:txBody>
      </p:sp>
      <p:sp>
        <p:nvSpPr>
          <p:cNvPr id="143" name="Google Shape;143;p16"/>
          <p:cNvSpPr txBox="1"/>
          <p:nvPr/>
        </p:nvSpPr>
        <p:spPr>
          <a:xfrm>
            <a:off x="914400" y="1609725"/>
            <a:ext cx="50056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oppins SemiBold"/>
                <a:ea typeface="Poppins SemiBold"/>
                <a:cs typeface="Poppins SemiBold"/>
                <a:sym typeface="Poppins SemiBold"/>
              </a:rPr>
              <a:t>Survey Overview &amp; Architectures</a:t>
            </a:r>
            <a:endParaRPr/>
          </a:p>
        </p:txBody>
      </p:sp>
      <p:sp>
        <p:nvSpPr>
          <p:cNvPr id="144" name="Google Shape;144;p16"/>
          <p:cNvSpPr/>
          <p:nvPr/>
        </p:nvSpPr>
        <p:spPr>
          <a:xfrm>
            <a:off x="914400" y="1971675"/>
            <a:ext cx="47672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914400" y="2095500"/>
            <a:ext cx="4767262" cy="1143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We reviewed 50 Research papers on the topic of optimizing DL models to deploy them on resource constrained systems like mobile, IOT, embedded devices. From those research papers we documented the architectures, optimization techniques used, boards used, classification or segmentation.</a:t>
            </a:r>
            <a:endParaRPr/>
          </a:p>
        </p:txBody>
      </p:sp>
      <p:sp>
        <p:nvSpPr>
          <p:cNvPr id="146" name="Google Shape;146;p16"/>
          <p:cNvSpPr txBox="1"/>
          <p:nvPr/>
        </p:nvSpPr>
        <p:spPr>
          <a:xfrm>
            <a:off x="914400" y="3381375"/>
            <a:ext cx="4767262"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From the papers it was observed that VGG models, ResNet models were popular and MobileNet was deemed suitable for resource constrained systems. So, VGG16, ResNet50 and MobileNetV2 were selected for a wide range of parameter count and footprint size.</a:t>
            </a:r>
            <a:endParaRPr/>
          </a:p>
        </p:txBody>
      </p:sp>
      <p:sp>
        <p:nvSpPr>
          <p:cNvPr id="147" name="Google Shape;147;p16"/>
          <p:cNvSpPr txBox="1"/>
          <p:nvPr/>
        </p:nvSpPr>
        <p:spPr>
          <a:xfrm>
            <a:off x="6510337" y="1609725"/>
            <a:ext cx="50056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oppins SemiBold"/>
                <a:ea typeface="Poppins SemiBold"/>
                <a:cs typeface="Poppins SemiBold"/>
                <a:sym typeface="Poppins SemiBold"/>
              </a:rPr>
              <a:t>Optimization Techniques</a:t>
            </a:r>
            <a:endParaRPr/>
          </a:p>
        </p:txBody>
      </p:sp>
      <p:sp>
        <p:nvSpPr>
          <p:cNvPr id="148" name="Google Shape;148;p16"/>
          <p:cNvSpPr/>
          <p:nvPr/>
        </p:nvSpPr>
        <p:spPr>
          <a:xfrm>
            <a:off x="6510337" y="1971675"/>
            <a:ext cx="47672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6"/>
          <p:cNvSpPr txBox="1"/>
          <p:nvPr/>
        </p:nvSpPr>
        <p:spPr>
          <a:xfrm>
            <a:off x="6510337" y="2095500"/>
            <a:ext cx="4767262"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Pruning, Quantization were popular optimization techniques used in the majority of the papers.</a:t>
            </a:r>
            <a:endParaRPr/>
          </a:p>
        </p:txBody>
      </p:sp>
      <p:sp>
        <p:nvSpPr>
          <p:cNvPr id="150" name="Google Shape;150;p16"/>
          <p:cNvSpPr txBox="1"/>
          <p:nvPr/>
        </p:nvSpPr>
        <p:spPr>
          <a:xfrm>
            <a:off x="6510337" y="2695575"/>
            <a:ext cx="4767262"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So, channel pruning, layer pruning, neuron pruning were selected for pruning, INT16 and INT8 PTQ were selected for quantization and dropout was selected.</a:t>
            </a:r>
            <a:endParaRPr/>
          </a:p>
        </p:txBody>
      </p:sp>
      <p:sp>
        <p:nvSpPr>
          <p:cNvPr id="151" name="Google Shape;151;p16"/>
          <p:cNvSpPr txBox="1"/>
          <p:nvPr/>
        </p:nvSpPr>
        <p:spPr>
          <a:xfrm>
            <a:off x="1004887" y="485775"/>
            <a:ext cx="11096386"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2: Literature Review</a:t>
            </a:r>
            <a:endParaRPr/>
          </a:p>
        </p:txBody>
      </p:sp>
      <p:sp>
        <p:nvSpPr>
          <p:cNvPr id="152" name="Google Shape;152;p16"/>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6" name="Shape 156"/>
        <p:cNvGrpSpPr/>
        <p:nvPr/>
      </p:nvGrpSpPr>
      <p:grpSpPr>
        <a:xfrm>
          <a:off x="0" y="0"/>
          <a:ext cx="0" cy="0"/>
          <a:chOff x="0" y="0"/>
          <a:chExt cx="0" cy="0"/>
        </a:xfrm>
      </p:grpSpPr>
      <p:pic>
        <p:nvPicPr>
          <p:cNvPr descr="image.png" id="157" name="Google Shape;157;p17"/>
          <p:cNvPicPr preferRelativeResize="0"/>
          <p:nvPr/>
        </p:nvPicPr>
        <p:blipFill rotWithShape="1">
          <a:blip r:embed="rId3">
            <a:alphaModFix/>
          </a:blip>
          <a:srcRect b="0" l="0" r="0" t="0"/>
          <a:stretch/>
        </p:blipFill>
        <p:spPr>
          <a:xfrm>
            <a:off x="619125" y="1962150"/>
            <a:ext cx="3524250" cy="1688306"/>
          </a:xfrm>
          <a:prstGeom prst="rect">
            <a:avLst/>
          </a:prstGeom>
          <a:noFill/>
          <a:ln>
            <a:noFill/>
          </a:ln>
        </p:spPr>
      </p:pic>
      <p:pic>
        <p:nvPicPr>
          <p:cNvPr descr="image.png" id="158" name="Google Shape;158;p17"/>
          <p:cNvPicPr preferRelativeResize="0"/>
          <p:nvPr/>
        </p:nvPicPr>
        <p:blipFill rotWithShape="1">
          <a:blip r:embed="rId4">
            <a:alphaModFix/>
          </a:blip>
          <a:srcRect b="0" l="0" r="0" t="0"/>
          <a:stretch/>
        </p:blipFill>
        <p:spPr>
          <a:xfrm>
            <a:off x="4333875" y="1962150"/>
            <a:ext cx="3524250" cy="1688306"/>
          </a:xfrm>
          <a:prstGeom prst="rect">
            <a:avLst/>
          </a:prstGeom>
          <a:noFill/>
          <a:ln>
            <a:noFill/>
          </a:ln>
        </p:spPr>
      </p:pic>
      <p:pic>
        <p:nvPicPr>
          <p:cNvPr descr="image.png" id="159" name="Google Shape;159;p17"/>
          <p:cNvPicPr preferRelativeResize="0"/>
          <p:nvPr/>
        </p:nvPicPr>
        <p:blipFill rotWithShape="1">
          <a:blip r:embed="rId5">
            <a:alphaModFix/>
          </a:blip>
          <a:srcRect b="0" l="0" r="0" t="0"/>
          <a:stretch/>
        </p:blipFill>
        <p:spPr>
          <a:xfrm>
            <a:off x="8048625" y="1962150"/>
            <a:ext cx="3524250" cy="1688306"/>
          </a:xfrm>
          <a:prstGeom prst="rect">
            <a:avLst/>
          </a:prstGeom>
          <a:noFill/>
          <a:ln>
            <a:noFill/>
          </a:ln>
        </p:spPr>
      </p:pic>
      <p:pic>
        <p:nvPicPr>
          <p:cNvPr descr="image.png" id="160" name="Google Shape;160;p17"/>
          <p:cNvPicPr preferRelativeResize="0"/>
          <p:nvPr/>
        </p:nvPicPr>
        <p:blipFill rotWithShape="1">
          <a:blip r:embed="rId6">
            <a:alphaModFix/>
          </a:blip>
          <a:srcRect b="0" l="0" r="0" t="0"/>
          <a:stretch/>
        </p:blipFill>
        <p:spPr>
          <a:xfrm>
            <a:off x="619125" y="6429375"/>
            <a:ext cx="10953750" cy="238125"/>
          </a:xfrm>
          <a:prstGeom prst="rect">
            <a:avLst/>
          </a:prstGeom>
          <a:noFill/>
          <a:ln>
            <a:noFill/>
          </a:ln>
        </p:spPr>
      </p:pic>
      <p:sp>
        <p:nvSpPr>
          <p:cNvPr id="161" name="Google Shape;161;p17"/>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2" name="Google Shape;162;p17"/>
          <p:cNvPicPr preferRelativeResize="0"/>
          <p:nvPr/>
        </p:nvPicPr>
        <p:blipFill rotWithShape="1">
          <a:blip r:embed="rId7">
            <a:alphaModFix/>
          </a:blip>
          <a:srcRect b="0" l="0" r="0" t="0"/>
          <a:stretch/>
        </p:blipFill>
        <p:spPr>
          <a:xfrm>
            <a:off x="619125" y="590550"/>
            <a:ext cx="271462" cy="247650"/>
          </a:xfrm>
          <a:prstGeom prst="rect">
            <a:avLst/>
          </a:prstGeom>
          <a:noFill/>
          <a:ln>
            <a:noFill/>
          </a:ln>
        </p:spPr>
      </p:pic>
      <p:sp>
        <p:nvSpPr>
          <p:cNvPr id="163" name="Google Shape;163;p17"/>
          <p:cNvSpPr txBox="1"/>
          <p:nvPr/>
        </p:nvSpPr>
        <p:spPr>
          <a:xfrm>
            <a:off x="619125" y="1314450"/>
            <a:ext cx="1095375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3.1 VGG16 Overview: VGG16 is a fundamental Convolution Neural Network(CNN), it consists of 16 total layers - 13 convolution layers and 3 fully connected layers.</a:t>
            </a:r>
            <a:endParaRPr/>
          </a:p>
        </p:txBody>
      </p:sp>
      <p:sp>
        <p:nvSpPr>
          <p:cNvPr id="164" name="Google Shape;164;p17"/>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4 of 14</a:t>
            </a:r>
            <a:endParaRPr/>
          </a:p>
        </p:txBody>
      </p:sp>
      <p:sp>
        <p:nvSpPr>
          <p:cNvPr id="165" name="Google Shape;165;p17"/>
          <p:cNvSpPr txBox="1"/>
          <p:nvPr/>
        </p:nvSpPr>
        <p:spPr>
          <a:xfrm>
            <a:off x="819150" y="22098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Input Layer</a:t>
            </a:r>
            <a:endParaRPr/>
          </a:p>
        </p:txBody>
      </p:sp>
      <p:sp>
        <p:nvSpPr>
          <p:cNvPr id="166" name="Google Shape;166;p17"/>
          <p:cNvSpPr/>
          <p:nvPr/>
        </p:nvSpPr>
        <p:spPr>
          <a:xfrm>
            <a:off x="819150" y="25241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7"/>
          <p:cNvSpPr txBox="1"/>
          <p:nvPr/>
        </p:nvSpPr>
        <p:spPr>
          <a:xfrm>
            <a:off x="819150" y="2657475"/>
            <a:ext cx="3124200" cy="186332"/>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It takes 224x244 RGB images as input.</a:t>
            </a:r>
            <a:endParaRPr/>
          </a:p>
        </p:txBody>
      </p:sp>
      <p:sp>
        <p:nvSpPr>
          <p:cNvPr id="168" name="Google Shape;168;p17"/>
          <p:cNvSpPr txBox="1"/>
          <p:nvPr/>
        </p:nvSpPr>
        <p:spPr>
          <a:xfrm>
            <a:off x="4533900" y="22098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Convolution Layers</a:t>
            </a:r>
            <a:endParaRPr/>
          </a:p>
        </p:txBody>
      </p:sp>
      <p:sp>
        <p:nvSpPr>
          <p:cNvPr id="169" name="Google Shape;169;p17"/>
          <p:cNvSpPr/>
          <p:nvPr/>
        </p:nvSpPr>
        <p:spPr>
          <a:xfrm>
            <a:off x="4533900" y="25241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7"/>
          <p:cNvSpPr txBox="1"/>
          <p:nvPr/>
        </p:nvSpPr>
        <p:spPr>
          <a:xfrm>
            <a:off x="4533900" y="2657475"/>
            <a:ext cx="3124200" cy="745331"/>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It consists of 5 blocks, each with 2 or 3 convolution layers (3x3 convolution filter, stride 1, same padding) followed by a 2x2 max-pooling layer (stride 2).</a:t>
            </a:r>
            <a:endParaRPr/>
          </a:p>
        </p:txBody>
      </p:sp>
      <p:sp>
        <p:nvSpPr>
          <p:cNvPr id="171" name="Google Shape;171;p17"/>
          <p:cNvSpPr txBox="1"/>
          <p:nvPr/>
        </p:nvSpPr>
        <p:spPr>
          <a:xfrm>
            <a:off x="8248650" y="22098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Classification Head</a:t>
            </a:r>
            <a:endParaRPr/>
          </a:p>
        </p:txBody>
      </p:sp>
      <p:sp>
        <p:nvSpPr>
          <p:cNvPr id="172" name="Google Shape;172;p17"/>
          <p:cNvSpPr/>
          <p:nvPr/>
        </p:nvSpPr>
        <p:spPr>
          <a:xfrm>
            <a:off x="8248650" y="25241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7"/>
          <p:cNvSpPr txBox="1"/>
          <p:nvPr/>
        </p:nvSpPr>
        <p:spPr>
          <a:xfrm>
            <a:off x="8248650" y="2657475"/>
            <a:ext cx="3124200" cy="558998"/>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The model ends with 2 fully connected (Dense) layers, each with 4096 neurons and is followed by the final output fully connected layer.</a:t>
            </a:r>
            <a:endParaRPr/>
          </a:p>
        </p:txBody>
      </p:sp>
      <p:sp>
        <p:nvSpPr>
          <p:cNvPr id="174" name="Google Shape;174;p17"/>
          <p:cNvSpPr txBox="1"/>
          <p:nvPr/>
        </p:nvSpPr>
        <p:spPr>
          <a:xfrm>
            <a:off x="1004887" y="485775"/>
            <a:ext cx="1109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3</a:t>
            </a:r>
            <a:r>
              <a:rPr b="1" lang="en-US" sz="2400">
                <a:solidFill>
                  <a:srgbClr val="0F172A"/>
                </a:solidFill>
                <a:latin typeface="Poppins"/>
                <a:ea typeface="Poppins"/>
                <a:cs typeface="Poppins"/>
                <a:sym typeface="Poppins"/>
              </a:rPr>
              <a:t>: </a:t>
            </a:r>
            <a:r>
              <a:rPr b="1" i="0" lang="en-US" sz="2400" u="none" cap="none" strike="noStrike">
                <a:solidFill>
                  <a:srgbClr val="0F172A"/>
                </a:solidFill>
                <a:latin typeface="Poppins"/>
                <a:ea typeface="Poppins"/>
                <a:cs typeface="Poppins"/>
                <a:sym typeface="Poppins"/>
              </a:rPr>
              <a:t>Architectures</a:t>
            </a:r>
            <a:endParaRPr/>
          </a:p>
        </p:txBody>
      </p:sp>
      <p:sp>
        <p:nvSpPr>
          <p:cNvPr id="175" name="Google Shape;175;p17"/>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9" name="Shape 179"/>
        <p:cNvGrpSpPr/>
        <p:nvPr/>
      </p:nvGrpSpPr>
      <p:grpSpPr>
        <a:xfrm>
          <a:off x="0" y="0"/>
          <a:ext cx="0" cy="0"/>
          <a:chOff x="0" y="0"/>
          <a:chExt cx="0" cy="0"/>
        </a:xfrm>
      </p:grpSpPr>
      <p:pic>
        <p:nvPicPr>
          <p:cNvPr descr="image.png" id="180" name="Google Shape;180;p18"/>
          <p:cNvPicPr preferRelativeResize="0"/>
          <p:nvPr/>
        </p:nvPicPr>
        <p:blipFill rotWithShape="1">
          <a:blip r:embed="rId3">
            <a:alphaModFix/>
          </a:blip>
          <a:srcRect b="0" l="0" r="0" t="0"/>
          <a:stretch/>
        </p:blipFill>
        <p:spPr>
          <a:xfrm>
            <a:off x="619125" y="1733550"/>
            <a:ext cx="3524250" cy="2222896"/>
          </a:xfrm>
          <a:prstGeom prst="rect">
            <a:avLst/>
          </a:prstGeom>
          <a:noFill/>
          <a:ln>
            <a:noFill/>
          </a:ln>
        </p:spPr>
      </p:pic>
      <p:pic>
        <p:nvPicPr>
          <p:cNvPr descr="image.png" id="181" name="Google Shape;181;p18"/>
          <p:cNvPicPr preferRelativeResize="0"/>
          <p:nvPr/>
        </p:nvPicPr>
        <p:blipFill rotWithShape="1">
          <a:blip r:embed="rId4">
            <a:alphaModFix/>
          </a:blip>
          <a:srcRect b="0" l="0" r="0" t="0"/>
          <a:stretch/>
        </p:blipFill>
        <p:spPr>
          <a:xfrm>
            <a:off x="4333875" y="1733550"/>
            <a:ext cx="3524250" cy="2222896"/>
          </a:xfrm>
          <a:prstGeom prst="rect">
            <a:avLst/>
          </a:prstGeom>
          <a:noFill/>
          <a:ln>
            <a:noFill/>
          </a:ln>
        </p:spPr>
      </p:pic>
      <p:pic>
        <p:nvPicPr>
          <p:cNvPr descr="image.png" id="182" name="Google Shape;182;p18"/>
          <p:cNvPicPr preferRelativeResize="0"/>
          <p:nvPr/>
        </p:nvPicPr>
        <p:blipFill rotWithShape="1">
          <a:blip r:embed="rId5">
            <a:alphaModFix/>
          </a:blip>
          <a:srcRect b="0" l="0" r="0" t="0"/>
          <a:stretch/>
        </p:blipFill>
        <p:spPr>
          <a:xfrm>
            <a:off x="8048625" y="1733550"/>
            <a:ext cx="3524250" cy="2222896"/>
          </a:xfrm>
          <a:prstGeom prst="rect">
            <a:avLst/>
          </a:prstGeom>
          <a:noFill/>
          <a:ln>
            <a:noFill/>
          </a:ln>
        </p:spPr>
      </p:pic>
      <p:pic>
        <p:nvPicPr>
          <p:cNvPr descr="image.png" id="183" name="Google Shape;183;p18"/>
          <p:cNvPicPr preferRelativeResize="0"/>
          <p:nvPr/>
        </p:nvPicPr>
        <p:blipFill rotWithShape="1">
          <a:blip r:embed="rId6">
            <a:alphaModFix/>
          </a:blip>
          <a:srcRect b="0" l="0" r="0" t="0"/>
          <a:stretch/>
        </p:blipFill>
        <p:spPr>
          <a:xfrm>
            <a:off x="619125" y="6429375"/>
            <a:ext cx="10953750" cy="238125"/>
          </a:xfrm>
          <a:prstGeom prst="rect">
            <a:avLst/>
          </a:prstGeom>
          <a:noFill/>
          <a:ln>
            <a:noFill/>
          </a:ln>
        </p:spPr>
      </p:pic>
      <p:sp>
        <p:nvSpPr>
          <p:cNvPr id="184" name="Google Shape;184;p18"/>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5" name="Google Shape;185;p18"/>
          <p:cNvPicPr preferRelativeResize="0"/>
          <p:nvPr/>
        </p:nvPicPr>
        <p:blipFill rotWithShape="1">
          <a:blip r:embed="rId7">
            <a:alphaModFix/>
          </a:blip>
          <a:srcRect b="0" l="0" r="0" t="0"/>
          <a:stretch/>
        </p:blipFill>
        <p:spPr>
          <a:xfrm>
            <a:off x="619125" y="590550"/>
            <a:ext cx="271462" cy="247650"/>
          </a:xfrm>
          <a:prstGeom prst="rect">
            <a:avLst/>
          </a:prstGeom>
          <a:noFill/>
          <a:ln>
            <a:noFill/>
          </a:ln>
        </p:spPr>
      </p:pic>
      <p:sp>
        <p:nvSpPr>
          <p:cNvPr id="186" name="Google Shape;186;p18"/>
          <p:cNvSpPr txBox="1"/>
          <p:nvPr/>
        </p:nvSpPr>
        <p:spPr>
          <a:xfrm>
            <a:off x="619125" y="1314450"/>
            <a:ext cx="109539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3.</a:t>
            </a:r>
            <a:r>
              <a:rPr lang="en-US" sz="1200">
                <a:solidFill>
                  <a:srgbClr val="0284C7"/>
                </a:solidFill>
                <a:latin typeface="DM Sans SemiBold"/>
                <a:ea typeface="DM Sans SemiBold"/>
                <a:cs typeface="DM Sans SemiBold"/>
                <a:sym typeface="DM Sans SemiBold"/>
              </a:rPr>
              <a:t>2</a:t>
            </a:r>
            <a:r>
              <a:rPr b="0" i="0" lang="en-US" sz="1200" u="none" cap="none" strike="noStrike">
                <a:solidFill>
                  <a:srgbClr val="0284C7"/>
                </a:solidFill>
                <a:latin typeface="DM Sans SemiBold"/>
                <a:ea typeface="DM Sans SemiBold"/>
                <a:cs typeface="DM Sans SemiBold"/>
                <a:sym typeface="DM Sans SemiBold"/>
              </a:rPr>
              <a:t> MobileNetV2 Overview: MobilleNetV2 is a light weight Convolutional Neural Network that was designed for resource constrained devices.</a:t>
            </a:r>
            <a:endParaRPr/>
          </a:p>
        </p:txBody>
      </p:sp>
      <p:sp>
        <p:nvSpPr>
          <p:cNvPr id="187" name="Google Shape;187;p18"/>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6 of 14</a:t>
            </a:r>
            <a:endParaRPr/>
          </a:p>
        </p:txBody>
      </p:sp>
      <p:sp>
        <p:nvSpPr>
          <p:cNvPr id="188" name="Google Shape;188;p18"/>
          <p:cNvSpPr txBox="1"/>
          <p:nvPr/>
        </p:nvSpPr>
        <p:spPr>
          <a:xfrm>
            <a:off x="81915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Input / Initial Conv</a:t>
            </a:r>
            <a:endParaRPr/>
          </a:p>
        </p:txBody>
      </p:sp>
      <p:sp>
        <p:nvSpPr>
          <p:cNvPr id="189" name="Google Shape;189;p18"/>
          <p:cNvSpPr/>
          <p:nvPr/>
        </p:nvSpPr>
        <p:spPr>
          <a:xfrm>
            <a:off x="81915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8"/>
          <p:cNvSpPr txBox="1"/>
          <p:nvPr/>
        </p:nvSpPr>
        <p:spPr>
          <a:xfrm>
            <a:off x="819150" y="2428875"/>
            <a:ext cx="3124200" cy="186332"/>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Input layer:</a:t>
            </a:r>
            <a:r>
              <a:rPr b="0" i="0" lang="en-US" sz="1012" u="none" cap="none" strike="noStrike">
                <a:solidFill>
                  <a:srgbClr val="475569"/>
                </a:solidFill>
                <a:latin typeface="DM Sans"/>
                <a:ea typeface="DM Sans"/>
                <a:cs typeface="DM Sans"/>
                <a:sym typeface="DM Sans"/>
              </a:rPr>
              <a:t> It takes 224x224 RGB images as input.</a:t>
            </a:r>
            <a:endParaRPr/>
          </a:p>
        </p:txBody>
      </p:sp>
      <p:sp>
        <p:nvSpPr>
          <p:cNvPr id="191" name="Google Shape;191;p18"/>
          <p:cNvSpPr txBox="1"/>
          <p:nvPr/>
        </p:nvSpPr>
        <p:spPr>
          <a:xfrm>
            <a:off x="819150" y="2777132"/>
            <a:ext cx="3124200" cy="37266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Initial Convolution layer:</a:t>
            </a:r>
            <a:r>
              <a:rPr b="0" i="0" lang="en-US" sz="1012" u="none" cap="none" strike="noStrike">
                <a:solidFill>
                  <a:srgbClr val="475569"/>
                </a:solidFill>
                <a:latin typeface="DM Sans"/>
                <a:ea typeface="DM Sans"/>
                <a:cs typeface="DM Sans"/>
                <a:sym typeface="DM Sans"/>
              </a:rPr>
              <a:t> It begins with a 3x3 convolution, followed by 17 Inverted Residual Blocks.</a:t>
            </a:r>
            <a:endParaRPr/>
          </a:p>
        </p:txBody>
      </p:sp>
      <p:sp>
        <p:nvSpPr>
          <p:cNvPr id="192" name="Google Shape;192;p18"/>
          <p:cNvSpPr txBox="1"/>
          <p:nvPr/>
        </p:nvSpPr>
        <p:spPr>
          <a:xfrm>
            <a:off x="453390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Inverted Residual Layer</a:t>
            </a:r>
            <a:endParaRPr/>
          </a:p>
        </p:txBody>
      </p:sp>
      <p:sp>
        <p:nvSpPr>
          <p:cNvPr id="193" name="Google Shape;193;p18"/>
          <p:cNvSpPr/>
          <p:nvPr/>
        </p:nvSpPr>
        <p:spPr>
          <a:xfrm>
            <a:off x="453390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8"/>
          <p:cNvSpPr txBox="1"/>
          <p:nvPr/>
        </p:nvSpPr>
        <p:spPr>
          <a:xfrm>
            <a:off x="4533900" y="2428875"/>
            <a:ext cx="3124200" cy="745331"/>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Each Block consists of a 1x1 expansion layer that expands the no of channels, followed by a filtering layer with a 3x3 depthwise convolution layer and then a 1x1 projection layer that shrinks the tensor.</a:t>
            </a:r>
            <a:endParaRPr/>
          </a:p>
        </p:txBody>
      </p:sp>
      <p:sp>
        <p:nvSpPr>
          <p:cNvPr id="195" name="Google Shape;195;p18"/>
          <p:cNvSpPr txBox="1"/>
          <p:nvPr/>
        </p:nvSpPr>
        <p:spPr>
          <a:xfrm>
            <a:off x="4533900" y="3336131"/>
            <a:ext cx="3124200" cy="37266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It also contains a skip connection between the input and the out of the Inverted Residual Block.</a:t>
            </a:r>
            <a:endParaRPr/>
          </a:p>
        </p:txBody>
      </p:sp>
      <p:sp>
        <p:nvSpPr>
          <p:cNvPr id="196" name="Google Shape;196;p18"/>
          <p:cNvSpPr txBox="1"/>
          <p:nvPr/>
        </p:nvSpPr>
        <p:spPr>
          <a:xfrm>
            <a:off x="824865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Classification Head</a:t>
            </a:r>
            <a:endParaRPr/>
          </a:p>
        </p:txBody>
      </p:sp>
      <p:sp>
        <p:nvSpPr>
          <p:cNvPr id="197" name="Google Shape;197;p18"/>
          <p:cNvSpPr/>
          <p:nvPr/>
        </p:nvSpPr>
        <p:spPr>
          <a:xfrm>
            <a:off x="824865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18"/>
          <p:cNvSpPr txBox="1"/>
          <p:nvPr/>
        </p:nvSpPr>
        <p:spPr>
          <a:xfrm>
            <a:off x="8248650" y="2428875"/>
            <a:ext cx="3124200" cy="37266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It contains a 1x1 convolution layer followed by a Global Average Pooling then a final dense layer.</a:t>
            </a:r>
            <a:endParaRPr/>
          </a:p>
        </p:txBody>
      </p:sp>
      <p:sp>
        <p:nvSpPr>
          <p:cNvPr id="199" name="Google Shape;199;p18"/>
          <p:cNvSpPr txBox="1"/>
          <p:nvPr/>
        </p:nvSpPr>
        <p:spPr>
          <a:xfrm>
            <a:off x="1004887" y="485775"/>
            <a:ext cx="1109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3: MobileNetV2</a:t>
            </a:r>
            <a:endParaRPr/>
          </a:p>
        </p:txBody>
      </p:sp>
      <p:sp>
        <p:nvSpPr>
          <p:cNvPr id="200" name="Google Shape;200;p18"/>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4" name="Shape 204"/>
        <p:cNvGrpSpPr/>
        <p:nvPr/>
      </p:nvGrpSpPr>
      <p:grpSpPr>
        <a:xfrm>
          <a:off x="0" y="0"/>
          <a:ext cx="0" cy="0"/>
          <a:chOff x="0" y="0"/>
          <a:chExt cx="0" cy="0"/>
        </a:xfrm>
      </p:grpSpPr>
      <p:pic>
        <p:nvPicPr>
          <p:cNvPr descr="image.png" id="205" name="Google Shape;205;p19"/>
          <p:cNvPicPr preferRelativeResize="0"/>
          <p:nvPr/>
        </p:nvPicPr>
        <p:blipFill rotWithShape="1">
          <a:blip r:embed="rId3">
            <a:alphaModFix/>
          </a:blip>
          <a:srcRect b="0" l="0" r="0" t="0"/>
          <a:stretch/>
        </p:blipFill>
        <p:spPr>
          <a:xfrm>
            <a:off x="619125" y="1733550"/>
            <a:ext cx="3524250" cy="2595562"/>
          </a:xfrm>
          <a:prstGeom prst="rect">
            <a:avLst/>
          </a:prstGeom>
          <a:noFill/>
          <a:ln>
            <a:noFill/>
          </a:ln>
        </p:spPr>
      </p:pic>
      <p:pic>
        <p:nvPicPr>
          <p:cNvPr descr="image.png" id="206" name="Google Shape;206;p19"/>
          <p:cNvPicPr preferRelativeResize="0"/>
          <p:nvPr/>
        </p:nvPicPr>
        <p:blipFill rotWithShape="1">
          <a:blip r:embed="rId4">
            <a:alphaModFix/>
          </a:blip>
          <a:srcRect b="0" l="0" r="0" t="0"/>
          <a:stretch/>
        </p:blipFill>
        <p:spPr>
          <a:xfrm>
            <a:off x="4333875" y="1733550"/>
            <a:ext cx="3524250" cy="2595562"/>
          </a:xfrm>
          <a:prstGeom prst="rect">
            <a:avLst/>
          </a:prstGeom>
          <a:noFill/>
          <a:ln>
            <a:noFill/>
          </a:ln>
        </p:spPr>
      </p:pic>
      <p:pic>
        <p:nvPicPr>
          <p:cNvPr descr="image.png" id="207" name="Google Shape;207;p19"/>
          <p:cNvPicPr preferRelativeResize="0"/>
          <p:nvPr/>
        </p:nvPicPr>
        <p:blipFill rotWithShape="1">
          <a:blip r:embed="rId5">
            <a:alphaModFix/>
          </a:blip>
          <a:srcRect b="0" l="0" r="0" t="0"/>
          <a:stretch/>
        </p:blipFill>
        <p:spPr>
          <a:xfrm>
            <a:off x="8048625" y="1733550"/>
            <a:ext cx="3524250" cy="2595562"/>
          </a:xfrm>
          <a:prstGeom prst="rect">
            <a:avLst/>
          </a:prstGeom>
          <a:noFill/>
          <a:ln>
            <a:noFill/>
          </a:ln>
        </p:spPr>
      </p:pic>
      <p:pic>
        <p:nvPicPr>
          <p:cNvPr descr="image.png" id="208" name="Google Shape;208;p19"/>
          <p:cNvPicPr preferRelativeResize="0"/>
          <p:nvPr/>
        </p:nvPicPr>
        <p:blipFill rotWithShape="1">
          <a:blip r:embed="rId6">
            <a:alphaModFix/>
          </a:blip>
          <a:srcRect b="0" l="0" r="0" t="0"/>
          <a:stretch/>
        </p:blipFill>
        <p:spPr>
          <a:xfrm>
            <a:off x="619125" y="6429375"/>
            <a:ext cx="10953750" cy="238125"/>
          </a:xfrm>
          <a:prstGeom prst="rect">
            <a:avLst/>
          </a:prstGeom>
          <a:noFill/>
          <a:ln>
            <a:noFill/>
          </a:ln>
        </p:spPr>
      </p:pic>
      <p:sp>
        <p:nvSpPr>
          <p:cNvPr id="209" name="Google Shape;209;p19"/>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0" name="Google Shape;210;p19"/>
          <p:cNvPicPr preferRelativeResize="0"/>
          <p:nvPr/>
        </p:nvPicPr>
        <p:blipFill rotWithShape="1">
          <a:blip r:embed="rId7">
            <a:alphaModFix/>
          </a:blip>
          <a:srcRect b="0" l="0" r="0" t="0"/>
          <a:stretch/>
        </p:blipFill>
        <p:spPr>
          <a:xfrm>
            <a:off x="619125" y="590550"/>
            <a:ext cx="271462" cy="247650"/>
          </a:xfrm>
          <a:prstGeom prst="rect">
            <a:avLst/>
          </a:prstGeom>
          <a:noFill/>
          <a:ln>
            <a:noFill/>
          </a:ln>
        </p:spPr>
      </p:pic>
      <p:sp>
        <p:nvSpPr>
          <p:cNvPr id="211" name="Google Shape;211;p19"/>
          <p:cNvSpPr txBox="1"/>
          <p:nvPr/>
        </p:nvSpPr>
        <p:spPr>
          <a:xfrm>
            <a:off x="619125" y="1314450"/>
            <a:ext cx="109539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3.</a:t>
            </a:r>
            <a:r>
              <a:rPr lang="en-US" sz="1200">
                <a:solidFill>
                  <a:srgbClr val="0284C7"/>
                </a:solidFill>
                <a:latin typeface="DM Sans SemiBold"/>
                <a:ea typeface="DM Sans SemiBold"/>
                <a:cs typeface="DM Sans SemiBold"/>
                <a:sym typeface="DM Sans SemiBold"/>
              </a:rPr>
              <a:t>3</a:t>
            </a:r>
            <a:r>
              <a:rPr b="0" i="0" lang="en-US" sz="1200" u="none" cap="none" strike="noStrike">
                <a:solidFill>
                  <a:srgbClr val="0284C7"/>
                </a:solidFill>
                <a:latin typeface="DM Sans SemiBold"/>
                <a:ea typeface="DM Sans SemiBold"/>
                <a:cs typeface="DM Sans SemiBold"/>
                <a:sym typeface="DM Sans SemiBold"/>
              </a:rPr>
              <a:t> ResNet50 Overview: ResNet50 is a 50 layer Convolutional Neural Network(CNN) that uses residual skip connections.</a:t>
            </a:r>
            <a:endParaRPr/>
          </a:p>
        </p:txBody>
      </p:sp>
      <p:sp>
        <p:nvSpPr>
          <p:cNvPr id="212" name="Google Shape;212;p19"/>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5 of 14</a:t>
            </a:r>
            <a:endParaRPr/>
          </a:p>
        </p:txBody>
      </p:sp>
      <p:sp>
        <p:nvSpPr>
          <p:cNvPr id="213" name="Google Shape;213;p19"/>
          <p:cNvSpPr txBox="1"/>
          <p:nvPr/>
        </p:nvSpPr>
        <p:spPr>
          <a:xfrm>
            <a:off x="81915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Input &amp; Initial Conv</a:t>
            </a:r>
            <a:endParaRPr/>
          </a:p>
        </p:txBody>
      </p:sp>
      <p:sp>
        <p:nvSpPr>
          <p:cNvPr id="214" name="Google Shape;214;p19"/>
          <p:cNvSpPr/>
          <p:nvPr/>
        </p:nvSpPr>
        <p:spPr>
          <a:xfrm>
            <a:off x="81915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9"/>
          <p:cNvSpPr txBox="1"/>
          <p:nvPr/>
        </p:nvSpPr>
        <p:spPr>
          <a:xfrm>
            <a:off x="819150" y="2428875"/>
            <a:ext cx="3124200" cy="186332"/>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Input layer:</a:t>
            </a:r>
            <a:r>
              <a:rPr b="0" i="0" lang="en-US" sz="1012" u="none" cap="none" strike="noStrike">
                <a:solidFill>
                  <a:srgbClr val="475569"/>
                </a:solidFill>
                <a:latin typeface="DM Sans"/>
                <a:ea typeface="DM Sans"/>
                <a:cs typeface="DM Sans"/>
                <a:sym typeface="DM Sans"/>
              </a:rPr>
              <a:t> It takes 224x224 RGB images as input.</a:t>
            </a:r>
            <a:endParaRPr/>
          </a:p>
        </p:txBody>
      </p:sp>
      <p:sp>
        <p:nvSpPr>
          <p:cNvPr id="216" name="Google Shape;216;p19"/>
          <p:cNvSpPr txBox="1"/>
          <p:nvPr/>
        </p:nvSpPr>
        <p:spPr>
          <a:xfrm>
            <a:off x="819150" y="2777132"/>
            <a:ext cx="3124200" cy="37266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Initial Convolution layer:</a:t>
            </a:r>
            <a:r>
              <a:rPr b="0" i="0" lang="en-US" sz="1012" u="none" cap="none" strike="noStrike">
                <a:solidFill>
                  <a:srgbClr val="475569"/>
                </a:solidFill>
                <a:latin typeface="DM Sans"/>
                <a:ea typeface="DM Sans"/>
                <a:cs typeface="DM Sans"/>
                <a:sym typeface="DM Sans"/>
              </a:rPr>
              <a:t> Contains a 7x7 convolution layer, followed by 16 Residual blocks.</a:t>
            </a:r>
            <a:endParaRPr/>
          </a:p>
        </p:txBody>
      </p:sp>
      <p:sp>
        <p:nvSpPr>
          <p:cNvPr id="217" name="Google Shape;217;p19"/>
          <p:cNvSpPr txBox="1"/>
          <p:nvPr/>
        </p:nvSpPr>
        <p:spPr>
          <a:xfrm>
            <a:off x="453390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Residual Blocks</a:t>
            </a:r>
            <a:endParaRPr/>
          </a:p>
        </p:txBody>
      </p:sp>
      <p:sp>
        <p:nvSpPr>
          <p:cNvPr id="218" name="Google Shape;218;p19"/>
          <p:cNvSpPr/>
          <p:nvPr/>
        </p:nvSpPr>
        <p:spPr>
          <a:xfrm>
            <a:off x="453390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9"/>
          <p:cNvSpPr txBox="1"/>
          <p:nvPr/>
        </p:nvSpPr>
        <p:spPr>
          <a:xfrm>
            <a:off x="4533900" y="2428875"/>
            <a:ext cx="3124200" cy="745331"/>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Residual Block:</a:t>
            </a:r>
            <a:r>
              <a:rPr b="0" i="0" lang="en-US" sz="1012" u="none" cap="none" strike="noStrike">
                <a:solidFill>
                  <a:srgbClr val="475569"/>
                </a:solidFill>
                <a:latin typeface="DM Sans"/>
                <a:ea typeface="DM Sans"/>
                <a:cs typeface="DM Sans"/>
                <a:sym typeface="DM Sans"/>
              </a:rPr>
              <a:t> Consists of a 1x1 convolution layer that reduces the no of channels, then a 3x3 convolution layer for feature extraction, then a 1x1 convolution layer that expands the channels.</a:t>
            </a:r>
            <a:endParaRPr/>
          </a:p>
        </p:txBody>
      </p:sp>
      <p:sp>
        <p:nvSpPr>
          <p:cNvPr id="220" name="Google Shape;220;p19"/>
          <p:cNvSpPr txBox="1"/>
          <p:nvPr/>
        </p:nvSpPr>
        <p:spPr>
          <a:xfrm>
            <a:off x="4533900" y="3336131"/>
            <a:ext cx="3124200" cy="745331"/>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1" i="0" lang="en-US" sz="1012" u="none" cap="none" strike="noStrike">
                <a:solidFill>
                  <a:srgbClr val="475569"/>
                </a:solidFill>
                <a:latin typeface="DM Sans"/>
                <a:ea typeface="DM Sans"/>
                <a:cs typeface="DM Sans"/>
                <a:sym typeface="DM Sans"/>
              </a:rPr>
              <a:t>Convolution layers:</a:t>
            </a:r>
            <a:r>
              <a:rPr b="0" i="0" lang="en-US" sz="1012" u="none" cap="none" strike="noStrike">
                <a:solidFill>
                  <a:srgbClr val="475569"/>
                </a:solidFill>
                <a:latin typeface="DM Sans"/>
                <a:ea typeface="DM Sans"/>
                <a:cs typeface="DM Sans"/>
                <a:sym typeface="DM Sans"/>
              </a:rPr>
              <a:t> Consists of 4 stages: Stage 1 (3 Residual blocks, 256 output channels), Stage 2 (4 blocks, 512 channels), Stage 3 (6 blocks, 1024 channels), Stage 4 (3 blocks, 2048 channels).</a:t>
            </a:r>
            <a:endParaRPr/>
          </a:p>
        </p:txBody>
      </p:sp>
      <p:sp>
        <p:nvSpPr>
          <p:cNvPr id="221" name="Google Shape;221;p19"/>
          <p:cNvSpPr txBox="1"/>
          <p:nvPr/>
        </p:nvSpPr>
        <p:spPr>
          <a:xfrm>
            <a:off x="8248650" y="1981200"/>
            <a:ext cx="32804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oppins SemiBold"/>
                <a:ea typeface="Poppins SemiBold"/>
                <a:cs typeface="Poppins SemiBold"/>
                <a:sym typeface="Poppins SemiBold"/>
              </a:rPr>
              <a:t>Classification Head</a:t>
            </a:r>
            <a:endParaRPr/>
          </a:p>
        </p:txBody>
      </p:sp>
      <p:sp>
        <p:nvSpPr>
          <p:cNvPr id="222" name="Google Shape;222;p19"/>
          <p:cNvSpPr/>
          <p:nvPr/>
        </p:nvSpPr>
        <p:spPr>
          <a:xfrm>
            <a:off x="8248650" y="2295525"/>
            <a:ext cx="31242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9"/>
          <p:cNvSpPr txBox="1"/>
          <p:nvPr/>
        </p:nvSpPr>
        <p:spPr>
          <a:xfrm>
            <a:off x="8248650" y="2428875"/>
            <a:ext cx="3124200" cy="37266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Contains a Global Average pooling followed by a dense layer.</a:t>
            </a:r>
            <a:endParaRPr/>
          </a:p>
        </p:txBody>
      </p:sp>
      <p:sp>
        <p:nvSpPr>
          <p:cNvPr id="224" name="Google Shape;224;p19"/>
          <p:cNvSpPr txBox="1"/>
          <p:nvPr/>
        </p:nvSpPr>
        <p:spPr>
          <a:xfrm>
            <a:off x="1004887" y="485775"/>
            <a:ext cx="1109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3: ResNet50 Architecture</a:t>
            </a:r>
            <a:endParaRPr/>
          </a:p>
        </p:txBody>
      </p:sp>
      <p:sp>
        <p:nvSpPr>
          <p:cNvPr id="225" name="Google Shape;225;p19"/>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9" name="Shape 229"/>
        <p:cNvGrpSpPr/>
        <p:nvPr/>
      </p:nvGrpSpPr>
      <p:grpSpPr>
        <a:xfrm>
          <a:off x="0" y="0"/>
          <a:ext cx="0" cy="0"/>
          <a:chOff x="0" y="0"/>
          <a:chExt cx="0" cy="0"/>
        </a:xfrm>
      </p:grpSpPr>
      <p:pic>
        <p:nvPicPr>
          <p:cNvPr descr="image.png" id="230" name="Google Shape;230;p20"/>
          <p:cNvPicPr preferRelativeResize="0"/>
          <p:nvPr/>
        </p:nvPicPr>
        <p:blipFill rotWithShape="1">
          <a:blip r:embed="rId3">
            <a:alphaModFix/>
          </a:blip>
          <a:srcRect b="0" l="0" r="0" t="0"/>
          <a:stretch/>
        </p:blipFill>
        <p:spPr>
          <a:xfrm>
            <a:off x="9810750" y="-419100"/>
            <a:ext cx="2857500" cy="2857500"/>
          </a:xfrm>
          <a:prstGeom prst="rect">
            <a:avLst/>
          </a:prstGeom>
          <a:noFill/>
          <a:ln>
            <a:noFill/>
          </a:ln>
        </p:spPr>
      </p:pic>
      <p:pic>
        <p:nvPicPr>
          <p:cNvPr descr="image.png" id="231" name="Google Shape;231;p20"/>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232" name="Google Shape;232;p20"/>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3" name="Google Shape;233;p20"/>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234" name="Google Shape;234;p20"/>
          <p:cNvSpPr txBox="1"/>
          <p:nvPr/>
        </p:nvSpPr>
        <p:spPr>
          <a:xfrm>
            <a:off x="11001375" y="6534150"/>
            <a:ext cx="5715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7 of 14</a:t>
            </a:r>
            <a:endParaRPr/>
          </a:p>
        </p:txBody>
      </p:sp>
      <p:sp>
        <p:nvSpPr>
          <p:cNvPr id="235" name="Google Shape;235;p20"/>
          <p:cNvSpPr txBox="1"/>
          <p:nvPr/>
        </p:nvSpPr>
        <p:spPr>
          <a:xfrm>
            <a:off x="619125" y="1314450"/>
            <a:ext cx="53101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0284C7"/>
                </a:solidFill>
                <a:latin typeface="DM Sans SemiBold"/>
                <a:ea typeface="DM Sans SemiBold"/>
                <a:cs typeface="DM Sans SemiBold"/>
                <a:sym typeface="DM Sans SemiBold"/>
              </a:rPr>
              <a:t>4.1 Datasets:</a:t>
            </a:r>
            <a:endParaRPr/>
          </a:p>
        </p:txBody>
      </p:sp>
      <p:sp>
        <p:nvSpPr>
          <p:cNvPr id="236" name="Google Shape;236;p20"/>
          <p:cNvSpPr txBox="1"/>
          <p:nvPr/>
        </p:nvSpPr>
        <p:spPr>
          <a:xfrm>
            <a:off x="619125" y="1624012"/>
            <a:ext cx="5310187"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DM Sans"/>
                <a:ea typeface="DM Sans"/>
                <a:cs typeface="DM Sans"/>
                <a:sym typeface="DM Sans"/>
              </a:rPr>
              <a:t>We used 2 different datasets to build and test the optimization techniques:</a:t>
            </a:r>
            <a:endParaRPr/>
          </a:p>
        </p:txBody>
      </p:sp>
      <p:sp>
        <p:nvSpPr>
          <p:cNvPr id="237" name="Google Shape;237;p20"/>
          <p:cNvSpPr txBox="1"/>
          <p:nvPr/>
        </p:nvSpPr>
        <p:spPr>
          <a:xfrm>
            <a:off x="714375" y="1919287"/>
            <a:ext cx="5214900" cy="40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DM Sans"/>
                <a:ea typeface="DM Sans"/>
                <a:cs typeface="DM Sans"/>
                <a:sym typeface="DM Sans"/>
              </a:rPr>
              <a:t>1. Kaggle Cats Vs Dogs dataset:</a:t>
            </a:r>
            <a:r>
              <a:rPr b="0" i="0" lang="en-US" sz="1050" u="none" cap="none" strike="noStrike">
                <a:solidFill>
                  <a:srgbClr val="475569"/>
                </a:solidFill>
                <a:latin typeface="DM Sans"/>
                <a:ea typeface="DM Sans"/>
                <a:cs typeface="DM Sans"/>
                <a:sym typeface="DM Sans"/>
              </a:rPr>
              <a:t> A standard </a:t>
            </a:r>
            <a:r>
              <a:rPr lang="en-US" sz="1050">
                <a:solidFill>
                  <a:srgbClr val="475569"/>
                </a:solidFill>
                <a:latin typeface="DM Sans"/>
                <a:ea typeface="DM Sans"/>
                <a:cs typeface="DM Sans"/>
                <a:sym typeface="DM Sans"/>
              </a:rPr>
              <a:t>publicly</a:t>
            </a:r>
            <a:r>
              <a:rPr b="0" i="0" lang="en-US" sz="1050" u="none" cap="none" strike="noStrike">
                <a:solidFill>
                  <a:srgbClr val="475569"/>
                </a:solidFill>
                <a:latin typeface="DM Sans"/>
                <a:ea typeface="DM Sans"/>
                <a:cs typeface="DM Sans"/>
                <a:sym typeface="DM Sans"/>
              </a:rPr>
              <a:t> available dataset to test and validate the results of the models and the techniques.</a:t>
            </a:r>
            <a:endParaRPr/>
          </a:p>
        </p:txBody>
      </p:sp>
      <p:sp>
        <p:nvSpPr>
          <p:cNvPr id="238" name="Google Shape;238;p20"/>
          <p:cNvSpPr/>
          <p:nvPr/>
        </p:nvSpPr>
        <p:spPr>
          <a:xfrm>
            <a:off x="619125" y="1919287"/>
            <a:ext cx="28575" cy="4000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0"/>
          <p:cNvSpPr txBox="1"/>
          <p:nvPr/>
        </p:nvSpPr>
        <p:spPr>
          <a:xfrm>
            <a:off x="714375" y="2414587"/>
            <a:ext cx="5214937"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DM Sans"/>
                <a:ea typeface="DM Sans"/>
                <a:cs typeface="DM Sans"/>
                <a:sym typeface="DM Sans"/>
              </a:rPr>
              <a:t>2. Proprietary CEERI leather dataset:</a:t>
            </a:r>
            <a:r>
              <a:rPr b="0" i="0" lang="en-US" sz="1050" u="none" cap="none" strike="noStrike">
                <a:solidFill>
                  <a:srgbClr val="475569"/>
                </a:solidFill>
                <a:latin typeface="DM Sans"/>
                <a:ea typeface="DM Sans"/>
                <a:cs typeface="DM Sans"/>
                <a:sym typeface="DM Sans"/>
              </a:rPr>
              <a:t> Dataset developed from high quality 224x224 RGB images of leather samples with 3992 defect free images and 3992 images with various defects such as holes, cuts, scratches, insect bites, etc.</a:t>
            </a:r>
            <a:endParaRPr/>
          </a:p>
        </p:txBody>
      </p:sp>
      <p:sp>
        <p:nvSpPr>
          <p:cNvPr id="240" name="Google Shape;240;p20"/>
          <p:cNvSpPr/>
          <p:nvPr/>
        </p:nvSpPr>
        <p:spPr>
          <a:xfrm>
            <a:off x="619125" y="2414587"/>
            <a:ext cx="28575" cy="600075"/>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0"/>
          <p:cNvSpPr txBox="1"/>
          <p:nvPr/>
        </p:nvSpPr>
        <p:spPr>
          <a:xfrm>
            <a:off x="6262687" y="1314450"/>
            <a:ext cx="53101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0284C7"/>
                </a:solidFill>
                <a:latin typeface="DM Sans SemiBold"/>
                <a:ea typeface="DM Sans SemiBold"/>
                <a:cs typeface="DM Sans SemiBold"/>
                <a:sym typeface="DM Sans SemiBold"/>
              </a:rPr>
              <a:t>4.2 Model Architecture and Development:</a:t>
            </a:r>
            <a:endParaRPr/>
          </a:p>
        </p:txBody>
      </p:sp>
      <p:sp>
        <p:nvSpPr>
          <p:cNvPr id="242" name="Google Shape;242;p20"/>
          <p:cNvSpPr txBox="1"/>
          <p:nvPr/>
        </p:nvSpPr>
        <p:spPr>
          <a:xfrm>
            <a:off x="6262687" y="1624012"/>
            <a:ext cx="5310187" cy="1676995"/>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We took the VGG16, MobileNetV2 and ResNet50 bases from keras.applications with pre-trained weights from ImageNet. We added our own classification head with 0.3 dropout to avoid overfitting for our use case of binary classification. The pre-trained weights were frozen and the classification head was allowed to train, then to increase the accuracy even more with the whole model trainable for fine tuning. The base models were trained with Adam optimizer and cosine scheduling from 1e-4 to 1e-6 learning rate, with a max of 100 epochs. Early stop was implemented with the patience of 10 monitoring validation loss. The training and validation data was recorded using TensorBoard and the Test sta was recorded manually.</a:t>
            </a:r>
            <a:endParaRPr/>
          </a:p>
        </p:txBody>
      </p:sp>
      <p:sp>
        <p:nvSpPr>
          <p:cNvPr id="243" name="Google Shape;243;p20"/>
          <p:cNvSpPr txBox="1"/>
          <p:nvPr/>
        </p:nvSpPr>
        <p:spPr>
          <a:xfrm>
            <a:off x="6262637" y="3848682"/>
            <a:ext cx="5310300" cy="833700"/>
          </a:xfrm>
          <a:prstGeom prst="rect">
            <a:avLst/>
          </a:prstGeom>
          <a:noFill/>
          <a:ln>
            <a:noFill/>
          </a:ln>
        </p:spPr>
        <p:txBody>
          <a:bodyPr anchorCtr="0" anchor="t" bIns="0" lIns="0" spcFirstLastPara="1" rIns="0" wrap="square" tIns="0">
            <a:spAutoFit/>
          </a:bodyPr>
          <a:lstStyle/>
          <a:p>
            <a:pPr indent="0" lvl="0" marL="0" marR="0" rtl="0" algn="l">
              <a:lnSpc>
                <a:spcPct val="145059"/>
              </a:lnSpc>
              <a:spcBef>
                <a:spcPts val="0"/>
              </a:spcBef>
              <a:spcAft>
                <a:spcPts val="0"/>
              </a:spcAft>
              <a:buNone/>
            </a:pPr>
            <a:r>
              <a:rPr b="0" i="0" lang="en-US" sz="1012" u="none" cap="none" strike="noStrike">
                <a:solidFill>
                  <a:srgbClr val="475569"/>
                </a:solidFill>
                <a:latin typeface="DM Sans"/>
                <a:ea typeface="DM Sans"/>
                <a:cs typeface="DM Sans"/>
                <a:sym typeface="DM Sans"/>
              </a:rPr>
              <a:t>For the various optimization techniques the base model of the architectures were loaded and the optimization techniques were performed, then for the various pruning techniques and dropout, fine tuning was performed to regain some of the lost accuracy and quantization was evaluated as such.</a:t>
            </a:r>
            <a:endParaRPr/>
          </a:p>
        </p:txBody>
      </p:sp>
      <p:sp>
        <p:nvSpPr>
          <p:cNvPr id="244" name="Google Shape;244;p20"/>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4: Datasets &amp; Development</a:t>
            </a:r>
            <a:endParaRPr/>
          </a:p>
        </p:txBody>
      </p:sp>
      <p:sp>
        <p:nvSpPr>
          <p:cNvPr id="245" name="Google Shape;245;p20"/>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9" name="Shape 249"/>
        <p:cNvGrpSpPr/>
        <p:nvPr/>
      </p:nvGrpSpPr>
      <p:grpSpPr>
        <a:xfrm>
          <a:off x="0" y="0"/>
          <a:ext cx="0" cy="0"/>
          <a:chOff x="0" y="0"/>
          <a:chExt cx="0" cy="0"/>
        </a:xfrm>
      </p:grpSpPr>
      <p:pic>
        <p:nvPicPr>
          <p:cNvPr descr="image.png" id="250" name="Google Shape;250;p21"/>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251" name="Google Shape;251;p21"/>
          <p:cNvPicPr preferRelativeResize="0"/>
          <p:nvPr/>
        </p:nvPicPr>
        <p:blipFill rotWithShape="1">
          <a:blip r:embed="rId4">
            <a:alphaModFix/>
          </a:blip>
          <a:srcRect b="0" l="0" r="0" t="0"/>
          <a:stretch/>
        </p:blipFill>
        <p:spPr>
          <a:xfrm>
            <a:off x="619125" y="2388393"/>
            <a:ext cx="3524250" cy="1577578"/>
          </a:xfrm>
          <a:prstGeom prst="rect">
            <a:avLst/>
          </a:prstGeom>
          <a:noFill/>
          <a:ln>
            <a:noFill/>
          </a:ln>
        </p:spPr>
      </p:pic>
      <p:pic>
        <p:nvPicPr>
          <p:cNvPr descr="image.png" id="252" name="Google Shape;252;p21"/>
          <p:cNvPicPr preferRelativeResize="0"/>
          <p:nvPr/>
        </p:nvPicPr>
        <p:blipFill rotWithShape="1">
          <a:blip r:embed="rId5">
            <a:alphaModFix/>
          </a:blip>
          <a:srcRect b="0" l="0" r="0" t="0"/>
          <a:stretch/>
        </p:blipFill>
        <p:spPr>
          <a:xfrm>
            <a:off x="4333875" y="2388393"/>
            <a:ext cx="3524250" cy="1577578"/>
          </a:xfrm>
          <a:prstGeom prst="rect">
            <a:avLst/>
          </a:prstGeom>
          <a:noFill/>
          <a:ln>
            <a:noFill/>
          </a:ln>
        </p:spPr>
      </p:pic>
      <p:pic>
        <p:nvPicPr>
          <p:cNvPr descr="image.png" id="253" name="Google Shape;253;p21"/>
          <p:cNvPicPr preferRelativeResize="0"/>
          <p:nvPr/>
        </p:nvPicPr>
        <p:blipFill rotWithShape="1">
          <a:blip r:embed="rId6">
            <a:alphaModFix/>
          </a:blip>
          <a:srcRect b="0" l="0" r="0" t="0"/>
          <a:stretch/>
        </p:blipFill>
        <p:spPr>
          <a:xfrm>
            <a:off x="8048625" y="2388393"/>
            <a:ext cx="3524250" cy="1577578"/>
          </a:xfrm>
          <a:prstGeom prst="rect">
            <a:avLst/>
          </a:prstGeom>
          <a:noFill/>
          <a:ln>
            <a:noFill/>
          </a:ln>
        </p:spPr>
      </p:pic>
      <p:pic>
        <p:nvPicPr>
          <p:cNvPr descr="image.png" id="254" name="Google Shape;254;p21"/>
          <p:cNvPicPr preferRelativeResize="0"/>
          <p:nvPr/>
        </p:nvPicPr>
        <p:blipFill rotWithShape="1">
          <a:blip r:embed="rId7">
            <a:alphaModFix/>
          </a:blip>
          <a:srcRect b="0" l="0" r="0" t="0"/>
          <a:stretch/>
        </p:blipFill>
        <p:spPr>
          <a:xfrm>
            <a:off x="619125" y="6429375"/>
            <a:ext cx="10953750" cy="238125"/>
          </a:xfrm>
          <a:prstGeom prst="rect">
            <a:avLst/>
          </a:prstGeom>
          <a:noFill/>
          <a:ln>
            <a:noFill/>
          </a:ln>
        </p:spPr>
      </p:pic>
      <p:sp>
        <p:nvSpPr>
          <p:cNvPr id="255" name="Google Shape;255;p21"/>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6" name="Google Shape;256;p21"/>
          <p:cNvPicPr preferRelativeResize="0"/>
          <p:nvPr/>
        </p:nvPicPr>
        <p:blipFill rotWithShape="1">
          <a:blip r:embed="rId8">
            <a:alphaModFix/>
          </a:blip>
          <a:srcRect b="0" l="0" r="0" t="0"/>
          <a:stretch/>
        </p:blipFill>
        <p:spPr>
          <a:xfrm>
            <a:off x="619125" y="590550"/>
            <a:ext cx="309562" cy="247650"/>
          </a:xfrm>
          <a:prstGeom prst="rect">
            <a:avLst/>
          </a:prstGeom>
          <a:noFill/>
          <a:ln>
            <a:noFill/>
          </a:ln>
        </p:spPr>
      </p:pic>
      <p:sp>
        <p:nvSpPr>
          <p:cNvPr id="257" name="Google Shape;257;p21"/>
          <p:cNvSpPr txBox="1"/>
          <p:nvPr/>
        </p:nvSpPr>
        <p:spPr>
          <a:xfrm>
            <a:off x="619125" y="1314450"/>
            <a:ext cx="10953750" cy="621506"/>
          </a:xfrm>
          <a:prstGeom prst="rect">
            <a:avLst/>
          </a:prstGeom>
          <a:noFill/>
          <a:ln>
            <a:noFill/>
          </a:ln>
        </p:spPr>
        <p:txBody>
          <a:bodyPr anchorCtr="0" anchor="t" bIns="0" lIns="0" spcFirstLastPara="1" rIns="0" wrap="square" tIns="0">
            <a:spAutoFit/>
          </a:bodyPr>
          <a:lstStyle/>
          <a:p>
            <a:pPr indent="0" lvl="0" marL="0" marR="0" rtl="0" algn="l">
              <a:lnSpc>
                <a:spcPct val="150046"/>
              </a:lnSpc>
              <a:spcBef>
                <a:spcPts val="0"/>
              </a:spcBef>
              <a:spcAft>
                <a:spcPts val="0"/>
              </a:spcAft>
              <a:buNone/>
            </a:pPr>
            <a:r>
              <a:rPr b="1" i="0" lang="en-US" sz="1087" u="none" cap="none" strike="noStrike">
                <a:solidFill>
                  <a:srgbClr val="475569"/>
                </a:solidFill>
                <a:latin typeface="DM Sans"/>
                <a:ea typeface="DM Sans"/>
                <a:cs typeface="DM Sans"/>
                <a:sym typeface="DM Sans"/>
              </a:rPr>
              <a:t>4.3 Automation pipeline:</a:t>
            </a:r>
            <a:r>
              <a:rPr b="0" i="0" lang="en-US" sz="1087" u="none" cap="none" strike="noStrike">
                <a:solidFill>
                  <a:srgbClr val="475569"/>
                </a:solidFill>
                <a:latin typeface="DM Sans"/>
                <a:ea typeface="DM Sans"/>
                <a:cs typeface="DM Sans"/>
                <a:sym typeface="DM Sans"/>
              </a:rPr>
              <a:t> Instead of changing the optimization technique ratios by hand and running and training the model one by one manually, we decided to write an automation script that will open the files , update the specific variables, train the models and store the data automatically. This code was implemented for ResNet50 and MobileNetV2.</a:t>
            </a:r>
            <a:endParaRPr/>
          </a:p>
        </p:txBody>
      </p:sp>
      <p:sp>
        <p:nvSpPr>
          <p:cNvPr id="258" name="Google Shape;258;p21"/>
          <p:cNvSpPr txBox="1"/>
          <p:nvPr/>
        </p:nvSpPr>
        <p:spPr>
          <a:xfrm>
            <a:off x="619125" y="2078831"/>
            <a:ext cx="10953750"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0284C7"/>
                </a:solidFill>
                <a:latin typeface="DM Sans SemiBold"/>
                <a:ea typeface="DM Sans SemiBold"/>
                <a:cs typeface="DM Sans SemiBold"/>
                <a:sym typeface="DM Sans SemiBold"/>
              </a:rPr>
              <a:t>Pipeline Sequence:</a:t>
            </a:r>
            <a:endParaRPr/>
          </a:p>
        </p:txBody>
      </p:sp>
      <p:sp>
        <p:nvSpPr>
          <p:cNvPr id="259" name="Google Shape;259;p21"/>
          <p:cNvSpPr txBox="1"/>
          <p:nvPr/>
        </p:nvSpPr>
        <p:spPr>
          <a:xfrm>
            <a:off x="619125" y="4108846"/>
            <a:ext cx="1095375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DM Sans"/>
                <a:ea typeface="DM Sans"/>
                <a:cs typeface="DM Sans"/>
                <a:sym typeface="DM Sans"/>
              </a:rPr>
              <a:t>All training and validation results were stored using tensorboard files and the test results were noted on a csv file. To keep the script running smoothly, exception handling was built in the code to skip models in case of any issues and start running the next model.</a:t>
            </a:r>
            <a:endParaRPr/>
          </a:p>
        </p:txBody>
      </p:sp>
      <p:sp>
        <p:nvSpPr>
          <p:cNvPr id="260" name="Google Shape;260;p21"/>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8 of 14</a:t>
            </a:r>
            <a:endParaRPr/>
          </a:p>
        </p:txBody>
      </p:sp>
      <p:sp>
        <p:nvSpPr>
          <p:cNvPr id="261" name="Google Shape;261;p21"/>
          <p:cNvSpPr txBox="1"/>
          <p:nvPr/>
        </p:nvSpPr>
        <p:spPr>
          <a:xfrm>
            <a:off x="771525" y="2540793"/>
            <a:ext cx="338042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oppins SemiBold"/>
                <a:ea typeface="Poppins SemiBold"/>
                <a:cs typeface="Poppins SemiBold"/>
                <a:sym typeface="Poppins SemiBold"/>
              </a:rPr>
              <a:t>Base Training</a:t>
            </a:r>
            <a:endParaRPr/>
          </a:p>
        </p:txBody>
      </p:sp>
      <p:sp>
        <p:nvSpPr>
          <p:cNvPr id="262" name="Google Shape;262;p21"/>
          <p:cNvSpPr/>
          <p:nvPr/>
        </p:nvSpPr>
        <p:spPr>
          <a:xfrm>
            <a:off x="771525" y="2817018"/>
            <a:ext cx="32194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1"/>
          <p:cNvSpPr txBox="1"/>
          <p:nvPr/>
        </p:nvSpPr>
        <p:spPr>
          <a:xfrm>
            <a:off x="771525" y="2950368"/>
            <a:ext cx="3219450" cy="172640"/>
          </a:xfrm>
          <a:prstGeom prst="rect">
            <a:avLst/>
          </a:prstGeom>
          <a:noFill/>
          <a:ln>
            <a:noFill/>
          </a:ln>
        </p:spPr>
        <p:txBody>
          <a:bodyPr anchorCtr="0" anchor="t" bIns="0" lIns="0" spcFirstLastPara="1" rIns="0" wrap="square" tIns="0">
            <a:spAutoFit/>
          </a:bodyPr>
          <a:lstStyle/>
          <a:p>
            <a:pPr indent="0" lvl="0" marL="0" marR="0" rtl="0" algn="l">
              <a:lnSpc>
                <a:spcPct val="145037"/>
              </a:lnSpc>
              <a:spcBef>
                <a:spcPts val="0"/>
              </a:spcBef>
              <a:spcAft>
                <a:spcPts val="0"/>
              </a:spcAft>
              <a:buNone/>
            </a:pPr>
            <a:r>
              <a:rPr b="0" i="0" lang="en-US" sz="937" u="none" cap="none" strike="noStrike">
                <a:solidFill>
                  <a:srgbClr val="475569"/>
                </a:solidFill>
                <a:latin typeface="DM Sans"/>
                <a:ea typeface="DM Sans"/>
                <a:cs typeface="DM Sans"/>
                <a:sym typeface="DM Sans"/>
              </a:rPr>
              <a:t>Trains the unoptimised base model of each architecture.</a:t>
            </a:r>
            <a:endParaRPr/>
          </a:p>
        </p:txBody>
      </p:sp>
      <p:sp>
        <p:nvSpPr>
          <p:cNvPr id="264" name="Google Shape;264;p21"/>
          <p:cNvSpPr txBox="1"/>
          <p:nvPr/>
        </p:nvSpPr>
        <p:spPr>
          <a:xfrm>
            <a:off x="4486275" y="2540793"/>
            <a:ext cx="338042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oppins SemiBold"/>
                <a:ea typeface="Poppins SemiBold"/>
                <a:cs typeface="Poppins SemiBold"/>
                <a:sym typeface="Poppins SemiBold"/>
              </a:rPr>
              <a:t>Optimization Techniques</a:t>
            </a:r>
            <a:endParaRPr/>
          </a:p>
        </p:txBody>
      </p:sp>
      <p:sp>
        <p:nvSpPr>
          <p:cNvPr id="265" name="Google Shape;265;p21"/>
          <p:cNvSpPr/>
          <p:nvPr/>
        </p:nvSpPr>
        <p:spPr>
          <a:xfrm>
            <a:off x="4486275" y="2817018"/>
            <a:ext cx="32194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1"/>
          <p:cNvSpPr txBox="1"/>
          <p:nvPr/>
        </p:nvSpPr>
        <p:spPr>
          <a:xfrm>
            <a:off x="4486275" y="2950368"/>
            <a:ext cx="3219450" cy="863203"/>
          </a:xfrm>
          <a:prstGeom prst="rect">
            <a:avLst/>
          </a:prstGeom>
          <a:noFill/>
          <a:ln>
            <a:noFill/>
          </a:ln>
        </p:spPr>
        <p:txBody>
          <a:bodyPr anchorCtr="0" anchor="t" bIns="0" lIns="0" spcFirstLastPara="1" rIns="0" wrap="square" tIns="0">
            <a:spAutoFit/>
          </a:bodyPr>
          <a:lstStyle/>
          <a:p>
            <a:pPr indent="0" lvl="0" marL="0" marR="0" rtl="0" algn="l">
              <a:lnSpc>
                <a:spcPct val="145037"/>
              </a:lnSpc>
              <a:spcBef>
                <a:spcPts val="0"/>
              </a:spcBef>
              <a:spcAft>
                <a:spcPts val="0"/>
              </a:spcAft>
              <a:buNone/>
            </a:pPr>
            <a:r>
              <a:rPr b="0" i="0" lang="en-US" sz="937" u="none" cap="none" strike="noStrike">
                <a:solidFill>
                  <a:srgbClr val="475569"/>
                </a:solidFill>
                <a:latin typeface="DM Sans"/>
                <a:ea typeface="DM Sans"/>
                <a:cs typeface="DM Sans"/>
                <a:sym typeface="DM Sans"/>
              </a:rPr>
              <a:t>Load the Base model, change name of the model to save the tensorboard files, perform the technique at the particular ratio, store the optimized model on the updated file name, save the test results. This is done for Channel pruning, Layer Pruning, Neuron Pruning, Dropout.</a:t>
            </a:r>
            <a:endParaRPr/>
          </a:p>
        </p:txBody>
      </p:sp>
      <p:sp>
        <p:nvSpPr>
          <p:cNvPr id="267" name="Google Shape;267;p21"/>
          <p:cNvSpPr txBox="1"/>
          <p:nvPr/>
        </p:nvSpPr>
        <p:spPr>
          <a:xfrm>
            <a:off x="8201025" y="2540793"/>
            <a:ext cx="3380422"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oppins SemiBold"/>
                <a:ea typeface="Poppins SemiBold"/>
                <a:cs typeface="Poppins SemiBold"/>
                <a:sym typeface="Poppins SemiBold"/>
              </a:rPr>
              <a:t>Quantization</a:t>
            </a:r>
            <a:endParaRPr/>
          </a:p>
        </p:txBody>
      </p:sp>
      <p:sp>
        <p:nvSpPr>
          <p:cNvPr id="268" name="Google Shape;268;p21"/>
          <p:cNvSpPr/>
          <p:nvPr/>
        </p:nvSpPr>
        <p:spPr>
          <a:xfrm>
            <a:off x="8201025" y="2817018"/>
            <a:ext cx="32194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1"/>
          <p:cNvSpPr txBox="1"/>
          <p:nvPr/>
        </p:nvSpPr>
        <p:spPr>
          <a:xfrm>
            <a:off x="8201025" y="2950368"/>
            <a:ext cx="3219450" cy="172640"/>
          </a:xfrm>
          <a:prstGeom prst="rect">
            <a:avLst/>
          </a:prstGeom>
          <a:noFill/>
          <a:ln>
            <a:noFill/>
          </a:ln>
        </p:spPr>
        <p:txBody>
          <a:bodyPr anchorCtr="0" anchor="t" bIns="0" lIns="0" spcFirstLastPara="1" rIns="0" wrap="square" tIns="0">
            <a:spAutoFit/>
          </a:bodyPr>
          <a:lstStyle/>
          <a:p>
            <a:pPr indent="0" lvl="0" marL="0" marR="0" rtl="0" algn="l">
              <a:lnSpc>
                <a:spcPct val="145037"/>
              </a:lnSpc>
              <a:spcBef>
                <a:spcPts val="0"/>
              </a:spcBef>
              <a:spcAft>
                <a:spcPts val="0"/>
              </a:spcAft>
              <a:buNone/>
            </a:pPr>
            <a:r>
              <a:rPr b="0" i="0" lang="en-US" sz="937" u="none" cap="none" strike="noStrike">
                <a:solidFill>
                  <a:srgbClr val="475569"/>
                </a:solidFill>
                <a:latin typeface="DM Sans"/>
                <a:ea typeface="DM Sans"/>
                <a:cs typeface="DM Sans"/>
                <a:sym typeface="DM Sans"/>
              </a:rPr>
              <a:t>Then run the scripts for all the Quantization levels.</a:t>
            </a:r>
            <a:endParaRPr/>
          </a:p>
        </p:txBody>
      </p:sp>
      <p:sp>
        <p:nvSpPr>
          <p:cNvPr id="270" name="Google Shape;270;p21"/>
          <p:cNvSpPr txBox="1"/>
          <p:nvPr/>
        </p:nvSpPr>
        <p:spPr>
          <a:xfrm>
            <a:off x="1042987" y="485775"/>
            <a:ext cx="11056381"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4: Automation Pipeline</a:t>
            </a:r>
            <a:endParaRPr/>
          </a:p>
        </p:txBody>
      </p:sp>
      <p:sp>
        <p:nvSpPr>
          <p:cNvPr id="271" name="Google Shape;271;p21"/>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5" name="Shape 275"/>
        <p:cNvGrpSpPr/>
        <p:nvPr/>
      </p:nvGrpSpPr>
      <p:grpSpPr>
        <a:xfrm>
          <a:off x="0" y="0"/>
          <a:ext cx="0" cy="0"/>
          <a:chOff x="0" y="0"/>
          <a:chExt cx="0" cy="0"/>
        </a:xfrm>
      </p:grpSpPr>
      <p:pic>
        <p:nvPicPr>
          <p:cNvPr descr="image.png" id="276" name="Google Shape;276;p22"/>
          <p:cNvPicPr preferRelativeResize="0"/>
          <p:nvPr/>
        </p:nvPicPr>
        <p:blipFill rotWithShape="1">
          <a:blip r:embed="rId3">
            <a:alphaModFix/>
          </a:blip>
          <a:srcRect b="0" l="0" r="0" t="0"/>
          <a:stretch/>
        </p:blipFill>
        <p:spPr>
          <a:xfrm>
            <a:off x="619125" y="1719262"/>
            <a:ext cx="10953750" cy="2714625"/>
          </a:xfrm>
          <a:prstGeom prst="rect">
            <a:avLst/>
          </a:prstGeom>
          <a:noFill/>
          <a:ln>
            <a:noFill/>
          </a:ln>
        </p:spPr>
      </p:pic>
      <p:pic>
        <p:nvPicPr>
          <p:cNvPr descr="image.png" id="277" name="Google Shape;277;p22"/>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278" name="Google Shape;278;p22"/>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9" name="Google Shape;279;p22"/>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280" name="Google Shape;280;p22"/>
          <p:cNvSpPr txBox="1"/>
          <p:nvPr/>
        </p:nvSpPr>
        <p:spPr>
          <a:xfrm>
            <a:off x="619125" y="1314450"/>
            <a:ext cx="10953750"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475569"/>
                </a:solidFill>
                <a:latin typeface="DM Sans"/>
                <a:ea typeface="DM Sans"/>
                <a:cs typeface="DM Sans"/>
                <a:sym typeface="DM Sans"/>
              </a:rPr>
              <a:t>4.4 Targeted Optimization Techniques:</a:t>
            </a:r>
            <a:r>
              <a:rPr b="0" i="0" lang="en-US" sz="1125" u="none" cap="none" strike="noStrike">
                <a:solidFill>
                  <a:srgbClr val="475569"/>
                </a:solidFill>
                <a:latin typeface="DM Sans"/>
                <a:ea typeface="DM Sans"/>
                <a:cs typeface="DM Sans"/>
                <a:sym typeface="DM Sans"/>
              </a:rPr>
              <a:t> The ratios and level of optimization used for all the techniques are mentioned below,</a:t>
            </a:r>
            <a:endParaRPr/>
          </a:p>
        </p:txBody>
      </p:sp>
      <p:sp>
        <p:nvSpPr>
          <p:cNvPr id="281" name="Google Shape;281;p22"/>
          <p:cNvSpPr txBox="1"/>
          <p:nvPr/>
        </p:nvSpPr>
        <p:spPr>
          <a:xfrm>
            <a:off x="10991850" y="6534150"/>
            <a:ext cx="5810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9 of 14</a:t>
            </a:r>
            <a:endParaRPr/>
          </a:p>
        </p:txBody>
      </p:sp>
      <p:sp>
        <p:nvSpPr>
          <p:cNvPr id="282" name="Google Shape;282;p22"/>
          <p:cNvSpPr/>
          <p:nvPr/>
        </p:nvSpPr>
        <p:spPr>
          <a:xfrm>
            <a:off x="628650" y="1728787"/>
            <a:ext cx="10934700" cy="269557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3" name="Google Shape;283;p22"/>
          <p:cNvGraphicFramePr/>
          <p:nvPr/>
        </p:nvGraphicFramePr>
        <p:xfrm>
          <a:off x="628650" y="1728787"/>
          <a:ext cx="3000000" cy="3000000"/>
        </p:xfrm>
        <a:graphic>
          <a:graphicData uri="http://schemas.openxmlformats.org/drawingml/2006/table">
            <a:tbl>
              <a:tblPr bandRow="1" firstRow="1">
                <a:noFill/>
                <a:tableStyleId>{241F869E-ADAB-4FA4-9030-482D71E61C17}</a:tableStyleId>
              </a:tblPr>
              <a:tblGrid>
                <a:gridCol w="4340725"/>
                <a:gridCol w="6593975"/>
              </a:tblGrid>
              <a:tr h="449250">
                <a:tc>
                  <a:txBody>
                    <a:bodyPr/>
                    <a:lstStyle/>
                    <a:p>
                      <a:pPr indent="0" lvl="0" marL="0" marR="0" rtl="0" algn="l">
                        <a:spcBef>
                          <a:spcPts val="0"/>
                        </a:spcBef>
                        <a:spcAft>
                          <a:spcPts val="0"/>
                        </a:spcAft>
                        <a:buNone/>
                      </a:pPr>
                      <a:r>
                        <a:rPr b="0" i="0" lang="en-US" sz="1087" u="none" cap="none" strike="noStrike">
                          <a:solidFill>
                            <a:srgbClr val="FFFFFF"/>
                          </a:solidFill>
                          <a:latin typeface="Poppins Medium"/>
                          <a:ea typeface="Poppins Medium"/>
                          <a:cs typeface="Poppins Medium"/>
                          <a:sym typeface="Poppins Medium"/>
                        </a:rPr>
                        <a:t>Optimization Technique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0" i="0" lang="en-US" sz="1087" u="none" cap="none" strike="noStrike">
                          <a:solidFill>
                            <a:srgbClr val="FFFFFF"/>
                          </a:solidFill>
                          <a:latin typeface="Poppins Medium"/>
                          <a:ea typeface="Poppins Medium"/>
                          <a:cs typeface="Poppins Medium"/>
                          <a:sym typeface="Poppins Medium"/>
                        </a:rPr>
                        <a:t>Ratios and Levels of Optimization Used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449250">
                <a:tc>
                  <a:txBody>
                    <a:bodyPr/>
                    <a:lstStyle/>
                    <a:p>
                      <a:pPr indent="0" lvl="0" marL="0" marR="0" rtl="0" algn="l">
                        <a:spcBef>
                          <a:spcPts val="0"/>
                        </a:spcBef>
                        <a:spcAft>
                          <a:spcPts val="0"/>
                        </a:spcAft>
                        <a:buNone/>
                      </a:pPr>
                      <a:r>
                        <a:rPr b="1" i="0" lang="en-US" sz="1087" u="none" cap="none" strike="noStrike">
                          <a:solidFill>
                            <a:srgbClr val="0F172A"/>
                          </a:solidFill>
                          <a:latin typeface="DM Sans"/>
                          <a:ea typeface="DM Sans"/>
                          <a:cs typeface="DM Sans"/>
                          <a:sym typeface="DM Sans"/>
                        </a:rPr>
                        <a:t>Channel pruning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87" u="none" cap="none" strike="noStrike">
                          <a:solidFill>
                            <a:srgbClr val="0F172A"/>
                          </a:solidFill>
                          <a:latin typeface="DM Sans"/>
                          <a:ea typeface="DM Sans"/>
                          <a:cs typeface="DM Sans"/>
                          <a:sym typeface="DM Sans"/>
                        </a:rPr>
                        <a:t>0.2, 0.3, 0.4, 0.5, 0.6, 0.7, 0.8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49250">
                <a:tc>
                  <a:txBody>
                    <a:bodyPr/>
                    <a:lstStyle/>
                    <a:p>
                      <a:pPr indent="0" lvl="0" marL="0" marR="0" rtl="0" algn="l">
                        <a:spcBef>
                          <a:spcPts val="0"/>
                        </a:spcBef>
                        <a:spcAft>
                          <a:spcPts val="0"/>
                        </a:spcAft>
                        <a:buNone/>
                      </a:pPr>
                      <a:r>
                        <a:rPr b="1" i="0" lang="en-US" sz="1087" u="none" cap="none" strike="noStrike">
                          <a:solidFill>
                            <a:srgbClr val="0F172A"/>
                          </a:solidFill>
                          <a:latin typeface="DM Sans"/>
                          <a:ea typeface="DM Sans"/>
                          <a:cs typeface="DM Sans"/>
                          <a:sym typeface="DM Sans"/>
                        </a:rPr>
                        <a:t>Neuron pruning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87" u="none" cap="none" strike="noStrike">
                          <a:solidFill>
                            <a:srgbClr val="0F172A"/>
                          </a:solidFill>
                          <a:latin typeface="DM Sans"/>
                          <a:ea typeface="DM Sans"/>
                          <a:cs typeface="DM Sans"/>
                          <a:sym typeface="DM Sans"/>
                        </a:rPr>
                        <a:t>0.3, 0.4, 0.5, 0.6, 0.7, 0.8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49250">
                <a:tc>
                  <a:txBody>
                    <a:bodyPr/>
                    <a:lstStyle/>
                    <a:p>
                      <a:pPr indent="0" lvl="0" marL="0" marR="0" rtl="0" algn="l">
                        <a:spcBef>
                          <a:spcPts val="0"/>
                        </a:spcBef>
                        <a:spcAft>
                          <a:spcPts val="0"/>
                        </a:spcAft>
                        <a:buNone/>
                      </a:pPr>
                      <a:r>
                        <a:rPr b="1" i="0" lang="en-US" sz="1087" u="none" cap="none" strike="noStrike">
                          <a:solidFill>
                            <a:srgbClr val="0F172A"/>
                          </a:solidFill>
                          <a:latin typeface="DM Sans"/>
                          <a:ea typeface="DM Sans"/>
                          <a:cs typeface="DM Sans"/>
                          <a:sym typeface="DM Sans"/>
                        </a:rPr>
                        <a:t>Layer pruning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87" u="none" cap="none" strike="noStrike">
                          <a:solidFill>
                            <a:srgbClr val="0F172A"/>
                          </a:solidFill>
                          <a:latin typeface="DM Sans"/>
                          <a:ea typeface="DM Sans"/>
                          <a:cs typeface="DM Sans"/>
                          <a:sym typeface="DM Sans"/>
                        </a:rPr>
                        <a:t>1, 2, 3, 4, 5, 6, 7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49250">
                <a:tc>
                  <a:txBody>
                    <a:bodyPr/>
                    <a:lstStyle/>
                    <a:p>
                      <a:pPr indent="0" lvl="0" marL="0" marR="0" rtl="0" algn="l">
                        <a:spcBef>
                          <a:spcPts val="0"/>
                        </a:spcBef>
                        <a:spcAft>
                          <a:spcPts val="0"/>
                        </a:spcAft>
                        <a:buNone/>
                      </a:pPr>
                      <a:r>
                        <a:rPr b="1" i="0" lang="en-US" sz="1087" u="none" cap="none" strike="noStrike">
                          <a:solidFill>
                            <a:srgbClr val="0F172A"/>
                          </a:solidFill>
                          <a:latin typeface="DM Sans"/>
                          <a:ea typeface="DM Sans"/>
                          <a:cs typeface="DM Sans"/>
                          <a:sym typeface="DM Sans"/>
                        </a:rPr>
                        <a:t>Dropout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087" u="none" cap="none" strike="noStrike">
                          <a:solidFill>
                            <a:srgbClr val="0F172A"/>
                          </a:solidFill>
                          <a:latin typeface="DM Sans"/>
                          <a:ea typeface="DM Sans"/>
                          <a:cs typeface="DM Sans"/>
                          <a:sym typeface="DM Sans"/>
                        </a:rPr>
                        <a:t>0.1, 0.2, 0.3, 0.4, 0.5, 0.6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49275">
                <a:tc>
                  <a:txBody>
                    <a:bodyPr/>
                    <a:lstStyle/>
                    <a:p>
                      <a:pPr indent="0" lvl="0" marL="0" marR="0" rtl="0" algn="l">
                        <a:spcBef>
                          <a:spcPts val="0"/>
                        </a:spcBef>
                        <a:spcAft>
                          <a:spcPts val="0"/>
                        </a:spcAft>
                        <a:buNone/>
                      </a:pPr>
                      <a:r>
                        <a:rPr b="1" i="0" lang="en-US" sz="1087" u="none" cap="none" strike="noStrike">
                          <a:solidFill>
                            <a:srgbClr val="0F172A"/>
                          </a:solidFill>
                          <a:latin typeface="DM Sans"/>
                          <a:ea typeface="DM Sans"/>
                          <a:cs typeface="DM Sans"/>
                          <a:sym typeface="DM Sans"/>
                        </a:rPr>
                        <a:t>Quantization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087" u="none" cap="none" strike="noStrike">
                          <a:solidFill>
                            <a:srgbClr val="0F172A"/>
                          </a:solidFill>
                          <a:latin typeface="DM Sans"/>
                          <a:ea typeface="DM Sans"/>
                          <a:cs typeface="DM Sans"/>
                          <a:sym typeface="DM Sans"/>
                        </a:rPr>
                        <a:t>INT16, INT8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84" name="Google Shape;284;p22"/>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4: Targeted Techniques</a:t>
            </a:r>
            <a:endParaRPr/>
          </a:p>
        </p:txBody>
      </p:sp>
      <p:sp>
        <p:nvSpPr>
          <p:cNvPr id="285" name="Google Shape;285;p22"/>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9" name="Shape 289"/>
        <p:cNvGrpSpPr/>
        <p:nvPr/>
      </p:nvGrpSpPr>
      <p:grpSpPr>
        <a:xfrm>
          <a:off x="0" y="0"/>
          <a:ext cx="0" cy="0"/>
          <a:chOff x="0" y="0"/>
          <a:chExt cx="0" cy="0"/>
        </a:xfrm>
      </p:grpSpPr>
      <p:pic>
        <p:nvPicPr>
          <p:cNvPr descr="image.png" id="290" name="Google Shape;290;p23"/>
          <p:cNvPicPr preferRelativeResize="0"/>
          <p:nvPr/>
        </p:nvPicPr>
        <p:blipFill rotWithShape="1">
          <a:blip r:embed="rId3">
            <a:alphaModFix/>
          </a:blip>
          <a:srcRect b="0" l="0" r="0" t="0"/>
          <a:stretch/>
        </p:blipFill>
        <p:spPr>
          <a:xfrm>
            <a:off x="9810750" y="-419100"/>
            <a:ext cx="2857500" cy="2857500"/>
          </a:xfrm>
          <a:prstGeom prst="rect">
            <a:avLst/>
          </a:prstGeom>
          <a:noFill/>
          <a:ln>
            <a:noFill/>
          </a:ln>
        </p:spPr>
      </p:pic>
      <p:pic>
        <p:nvPicPr>
          <p:cNvPr descr="image.png" id="291" name="Google Shape;291;p23"/>
          <p:cNvPicPr preferRelativeResize="0"/>
          <p:nvPr/>
        </p:nvPicPr>
        <p:blipFill rotWithShape="1">
          <a:blip r:embed="rId4">
            <a:alphaModFix/>
          </a:blip>
          <a:srcRect b="0" l="0" r="0" t="0"/>
          <a:stretch/>
        </p:blipFill>
        <p:spPr>
          <a:xfrm>
            <a:off x="619125" y="1685925"/>
            <a:ext cx="5357812" cy="2505075"/>
          </a:xfrm>
          <a:prstGeom prst="rect">
            <a:avLst/>
          </a:prstGeom>
          <a:noFill/>
          <a:ln>
            <a:noFill/>
          </a:ln>
        </p:spPr>
      </p:pic>
      <p:pic>
        <p:nvPicPr>
          <p:cNvPr descr="image.png" id="292" name="Google Shape;292;p23"/>
          <p:cNvPicPr preferRelativeResize="0"/>
          <p:nvPr/>
        </p:nvPicPr>
        <p:blipFill rotWithShape="1">
          <a:blip r:embed="rId5">
            <a:alphaModFix/>
          </a:blip>
          <a:srcRect b="0" l="0" r="0" t="0"/>
          <a:stretch/>
        </p:blipFill>
        <p:spPr>
          <a:xfrm>
            <a:off x="6215062" y="1685925"/>
            <a:ext cx="5357812" cy="2505075"/>
          </a:xfrm>
          <a:prstGeom prst="rect">
            <a:avLst/>
          </a:prstGeom>
          <a:noFill/>
          <a:ln>
            <a:noFill/>
          </a:ln>
        </p:spPr>
      </p:pic>
      <p:pic>
        <p:nvPicPr>
          <p:cNvPr descr="image.png" id="293" name="Google Shape;293;p23"/>
          <p:cNvPicPr preferRelativeResize="0"/>
          <p:nvPr/>
        </p:nvPicPr>
        <p:blipFill rotWithShape="1">
          <a:blip r:embed="rId6">
            <a:alphaModFix/>
          </a:blip>
          <a:srcRect b="0" l="0" r="0" t="0"/>
          <a:stretch/>
        </p:blipFill>
        <p:spPr>
          <a:xfrm>
            <a:off x="619125" y="6429375"/>
            <a:ext cx="10953750" cy="238125"/>
          </a:xfrm>
          <a:prstGeom prst="rect">
            <a:avLst/>
          </a:prstGeom>
          <a:noFill/>
          <a:ln>
            <a:noFill/>
          </a:ln>
        </p:spPr>
      </p:pic>
      <p:sp>
        <p:nvSpPr>
          <p:cNvPr id="294" name="Google Shape;294;p23"/>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5" name="Google Shape;295;p23"/>
          <p:cNvPicPr preferRelativeResize="0"/>
          <p:nvPr/>
        </p:nvPicPr>
        <p:blipFill rotWithShape="1">
          <a:blip r:embed="rId7">
            <a:alphaModFix/>
          </a:blip>
          <a:srcRect b="0" l="0" r="0" t="0"/>
          <a:stretch/>
        </p:blipFill>
        <p:spPr>
          <a:xfrm>
            <a:off x="619125" y="590550"/>
            <a:ext cx="242887" cy="247650"/>
          </a:xfrm>
          <a:prstGeom prst="rect">
            <a:avLst/>
          </a:prstGeom>
          <a:noFill/>
          <a:ln>
            <a:noFill/>
          </a:ln>
        </p:spPr>
      </p:pic>
      <p:sp>
        <p:nvSpPr>
          <p:cNvPr id="296" name="Google Shape;296;p23"/>
          <p:cNvSpPr txBox="1"/>
          <p:nvPr/>
        </p:nvSpPr>
        <p:spPr>
          <a:xfrm>
            <a:off x="619125" y="1314450"/>
            <a:ext cx="1095375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The implementation of the trained models were conducted on Jetson TX2 and will be conducted on Jetson Orin Nano.</a:t>
            </a:r>
            <a:endParaRPr/>
          </a:p>
        </p:txBody>
      </p:sp>
      <p:sp>
        <p:nvSpPr>
          <p:cNvPr id="297" name="Google Shape;297;p23"/>
          <p:cNvSpPr txBox="1"/>
          <p:nvPr/>
        </p:nvSpPr>
        <p:spPr>
          <a:xfrm>
            <a:off x="10953750" y="6534150"/>
            <a:ext cx="6191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10 of 14</a:t>
            </a:r>
            <a:endParaRPr/>
          </a:p>
        </p:txBody>
      </p:sp>
      <p:sp>
        <p:nvSpPr>
          <p:cNvPr id="298" name="Google Shape;298;p23"/>
          <p:cNvSpPr txBox="1"/>
          <p:nvPr/>
        </p:nvSpPr>
        <p:spPr>
          <a:xfrm>
            <a:off x="914400" y="1981200"/>
            <a:ext cx="50056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oppins SemiBold"/>
                <a:ea typeface="Poppins SemiBold"/>
                <a:cs typeface="Poppins SemiBold"/>
                <a:sym typeface="Poppins SemiBold"/>
              </a:rPr>
              <a:t>5.1 Jetson TX2 Setup</a:t>
            </a:r>
            <a:endParaRPr/>
          </a:p>
        </p:txBody>
      </p:sp>
      <p:sp>
        <p:nvSpPr>
          <p:cNvPr id="299" name="Google Shape;299;p23"/>
          <p:cNvSpPr/>
          <p:nvPr/>
        </p:nvSpPr>
        <p:spPr>
          <a:xfrm>
            <a:off x="914400" y="2343150"/>
            <a:ext cx="47672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3"/>
          <p:cNvSpPr txBox="1"/>
          <p:nvPr/>
        </p:nvSpPr>
        <p:spPr>
          <a:xfrm>
            <a:off x="914400" y="2466975"/>
            <a:ext cx="4767262" cy="441721"/>
          </a:xfrm>
          <a:prstGeom prst="rect">
            <a:avLst/>
          </a:prstGeom>
          <a:noFill/>
          <a:ln>
            <a:noFill/>
          </a:ln>
        </p:spPr>
        <p:txBody>
          <a:bodyPr anchorCtr="0" anchor="t" bIns="0" lIns="0" spcFirstLastPara="1" rIns="0" wrap="square" tIns="0">
            <a:spAutoFit/>
          </a:bodyPr>
          <a:lstStyle/>
          <a:p>
            <a:pPr indent="0" lvl="0" marL="0" marR="0" rtl="0" algn="l">
              <a:lnSpc>
                <a:spcPct val="159981"/>
              </a:lnSpc>
              <a:spcBef>
                <a:spcPts val="0"/>
              </a:spcBef>
              <a:spcAft>
                <a:spcPts val="0"/>
              </a:spcAft>
              <a:buNone/>
            </a:pPr>
            <a:r>
              <a:rPr b="0" i="0" lang="en-US" sz="1087" u="none" cap="none" strike="noStrike">
                <a:solidFill>
                  <a:srgbClr val="334155"/>
                </a:solidFill>
                <a:latin typeface="DM Sans"/>
                <a:ea typeface="DM Sans"/>
                <a:cs typeface="DM Sans"/>
                <a:sym typeface="DM Sans"/>
              </a:rPr>
              <a:t>The Jetson TX2 board serves as one of the primary hardware testbed for obtaining the inference time of the models.</a:t>
            </a:r>
            <a:endParaRPr/>
          </a:p>
        </p:txBody>
      </p:sp>
      <p:sp>
        <p:nvSpPr>
          <p:cNvPr id="301" name="Google Shape;301;p23"/>
          <p:cNvSpPr txBox="1"/>
          <p:nvPr/>
        </p:nvSpPr>
        <p:spPr>
          <a:xfrm>
            <a:off x="914400" y="3003946"/>
            <a:ext cx="4767262" cy="441721"/>
          </a:xfrm>
          <a:prstGeom prst="rect">
            <a:avLst/>
          </a:prstGeom>
          <a:noFill/>
          <a:ln>
            <a:noFill/>
          </a:ln>
        </p:spPr>
        <p:txBody>
          <a:bodyPr anchorCtr="0" anchor="t" bIns="0" lIns="0" spcFirstLastPara="1" rIns="0" wrap="square" tIns="0">
            <a:spAutoFit/>
          </a:bodyPr>
          <a:lstStyle/>
          <a:p>
            <a:pPr indent="0" lvl="0" marL="0" marR="0" rtl="0" algn="l">
              <a:lnSpc>
                <a:spcPct val="159981"/>
              </a:lnSpc>
              <a:spcBef>
                <a:spcPts val="0"/>
              </a:spcBef>
              <a:spcAft>
                <a:spcPts val="0"/>
              </a:spcAft>
              <a:buNone/>
            </a:pPr>
            <a:r>
              <a:rPr b="0" i="0" lang="en-US" sz="1087" u="none" cap="none" strike="noStrike">
                <a:solidFill>
                  <a:srgbClr val="334155"/>
                </a:solidFill>
                <a:latin typeface="DM Sans"/>
                <a:ea typeface="DM Sans"/>
                <a:cs typeface="DM Sans"/>
                <a:sym typeface="DM Sans"/>
              </a:rPr>
              <a:t>After the proper setup, the inference time of all the models were evaluated and documented.</a:t>
            </a:r>
            <a:endParaRPr/>
          </a:p>
        </p:txBody>
      </p:sp>
      <p:sp>
        <p:nvSpPr>
          <p:cNvPr id="302" name="Google Shape;302;p23"/>
          <p:cNvSpPr txBox="1"/>
          <p:nvPr/>
        </p:nvSpPr>
        <p:spPr>
          <a:xfrm>
            <a:off x="6510337" y="1981200"/>
            <a:ext cx="50056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oppins SemiBold"/>
                <a:ea typeface="Poppins SemiBold"/>
                <a:cs typeface="Poppins SemiBold"/>
                <a:sym typeface="Poppins SemiBold"/>
              </a:rPr>
              <a:t>Setup Configuration Steps</a:t>
            </a:r>
            <a:endParaRPr/>
          </a:p>
        </p:txBody>
      </p:sp>
      <p:sp>
        <p:nvSpPr>
          <p:cNvPr id="303" name="Google Shape;303;p23"/>
          <p:cNvSpPr/>
          <p:nvPr/>
        </p:nvSpPr>
        <p:spPr>
          <a:xfrm>
            <a:off x="6510337" y="2343150"/>
            <a:ext cx="47672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3"/>
          <p:cNvSpPr txBox="1"/>
          <p:nvPr/>
        </p:nvSpPr>
        <p:spPr>
          <a:xfrm>
            <a:off x="6843712" y="2466975"/>
            <a:ext cx="44338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Installation of SDK manager on a pc with ubuntu 18.04</a:t>
            </a:r>
            <a:endParaRPr/>
          </a:p>
        </p:txBody>
      </p:sp>
      <p:sp>
        <p:nvSpPr>
          <p:cNvPr id="305" name="Google Shape;305;p23"/>
          <p:cNvSpPr txBox="1"/>
          <p:nvPr/>
        </p:nvSpPr>
        <p:spPr>
          <a:xfrm>
            <a:off x="6843712" y="2824162"/>
            <a:ext cx="44338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Flash the board with the os</a:t>
            </a:r>
            <a:endParaRPr/>
          </a:p>
        </p:txBody>
      </p:sp>
      <p:sp>
        <p:nvSpPr>
          <p:cNvPr id="306" name="Google Shape;306;p23"/>
          <p:cNvSpPr txBox="1"/>
          <p:nvPr/>
        </p:nvSpPr>
        <p:spPr>
          <a:xfrm>
            <a:off x="6843712" y="3181350"/>
            <a:ext cx="44338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Install jetpack4.6.6</a:t>
            </a:r>
            <a:endParaRPr/>
          </a:p>
        </p:txBody>
      </p:sp>
      <p:sp>
        <p:nvSpPr>
          <p:cNvPr id="307" name="Google Shape;307;p23"/>
          <p:cNvSpPr txBox="1"/>
          <p:nvPr/>
        </p:nvSpPr>
        <p:spPr>
          <a:xfrm>
            <a:off x="6843712" y="3538537"/>
            <a:ext cx="4433887"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34155"/>
                </a:solidFill>
                <a:latin typeface="DM Sans"/>
                <a:ea typeface="DM Sans"/>
                <a:cs typeface="DM Sans"/>
                <a:sym typeface="DM Sans"/>
              </a:rPr>
              <a:t>Install all the required modules.</a:t>
            </a:r>
            <a:endParaRPr/>
          </a:p>
        </p:txBody>
      </p:sp>
      <p:pic>
        <p:nvPicPr>
          <p:cNvPr descr="image.png" id="308" name="Google Shape;308;p23"/>
          <p:cNvPicPr preferRelativeResize="0"/>
          <p:nvPr/>
        </p:nvPicPr>
        <p:blipFill rotWithShape="1">
          <a:blip r:embed="rId8">
            <a:alphaModFix/>
          </a:blip>
          <a:srcRect b="0" l="0" r="0" t="0"/>
          <a:stretch/>
        </p:blipFill>
        <p:spPr>
          <a:xfrm>
            <a:off x="6557962" y="2490787"/>
            <a:ext cx="104775" cy="180975"/>
          </a:xfrm>
          <a:prstGeom prst="rect">
            <a:avLst/>
          </a:prstGeom>
          <a:noFill/>
          <a:ln>
            <a:noFill/>
          </a:ln>
        </p:spPr>
      </p:pic>
      <p:pic>
        <p:nvPicPr>
          <p:cNvPr descr="image.png" id="309" name="Google Shape;309;p23"/>
          <p:cNvPicPr preferRelativeResize="0"/>
          <p:nvPr/>
        </p:nvPicPr>
        <p:blipFill rotWithShape="1">
          <a:blip r:embed="rId8">
            <a:alphaModFix/>
          </a:blip>
          <a:srcRect b="0" l="0" r="0" t="0"/>
          <a:stretch/>
        </p:blipFill>
        <p:spPr>
          <a:xfrm>
            <a:off x="6557962" y="2847975"/>
            <a:ext cx="104775" cy="180975"/>
          </a:xfrm>
          <a:prstGeom prst="rect">
            <a:avLst/>
          </a:prstGeom>
          <a:noFill/>
          <a:ln>
            <a:noFill/>
          </a:ln>
        </p:spPr>
      </p:pic>
      <p:pic>
        <p:nvPicPr>
          <p:cNvPr descr="image.png" id="310" name="Google Shape;310;p23"/>
          <p:cNvPicPr preferRelativeResize="0"/>
          <p:nvPr/>
        </p:nvPicPr>
        <p:blipFill rotWithShape="1">
          <a:blip r:embed="rId8">
            <a:alphaModFix/>
          </a:blip>
          <a:srcRect b="0" l="0" r="0" t="0"/>
          <a:stretch/>
        </p:blipFill>
        <p:spPr>
          <a:xfrm>
            <a:off x="6557962" y="3205162"/>
            <a:ext cx="104775" cy="180975"/>
          </a:xfrm>
          <a:prstGeom prst="rect">
            <a:avLst/>
          </a:prstGeom>
          <a:noFill/>
          <a:ln>
            <a:noFill/>
          </a:ln>
        </p:spPr>
      </p:pic>
      <p:pic>
        <p:nvPicPr>
          <p:cNvPr descr="image.png" id="311" name="Google Shape;311;p23"/>
          <p:cNvPicPr preferRelativeResize="0"/>
          <p:nvPr/>
        </p:nvPicPr>
        <p:blipFill rotWithShape="1">
          <a:blip r:embed="rId8">
            <a:alphaModFix/>
          </a:blip>
          <a:srcRect b="0" l="0" r="0" t="0"/>
          <a:stretch/>
        </p:blipFill>
        <p:spPr>
          <a:xfrm>
            <a:off x="6557962" y="3562350"/>
            <a:ext cx="104775" cy="180975"/>
          </a:xfrm>
          <a:prstGeom prst="rect">
            <a:avLst/>
          </a:prstGeom>
          <a:noFill/>
          <a:ln>
            <a:noFill/>
          </a:ln>
        </p:spPr>
      </p:pic>
      <p:sp>
        <p:nvSpPr>
          <p:cNvPr id="312" name="Google Shape;312;p23"/>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5: Embedded Setup</a:t>
            </a:r>
            <a:endParaRPr/>
          </a:p>
        </p:txBody>
      </p:sp>
      <p:sp>
        <p:nvSpPr>
          <p:cNvPr id="313" name="Google Shape;313;p23"/>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7" name="Shape 317"/>
        <p:cNvGrpSpPr/>
        <p:nvPr/>
      </p:nvGrpSpPr>
      <p:grpSpPr>
        <a:xfrm>
          <a:off x="0" y="0"/>
          <a:ext cx="0" cy="0"/>
          <a:chOff x="0" y="0"/>
          <a:chExt cx="0" cy="0"/>
        </a:xfrm>
      </p:grpSpPr>
      <p:pic>
        <p:nvPicPr>
          <p:cNvPr descr="image.png" id="318" name="Google Shape;318;p24"/>
          <p:cNvPicPr preferRelativeResize="0"/>
          <p:nvPr/>
        </p:nvPicPr>
        <p:blipFill rotWithShape="1">
          <a:blip r:embed="rId3">
            <a:alphaModFix/>
          </a:blip>
          <a:srcRect b="0" l="0" r="0" t="0"/>
          <a:stretch/>
        </p:blipFill>
        <p:spPr>
          <a:xfrm>
            <a:off x="6262687" y="1314450"/>
            <a:ext cx="5310187" cy="3619500"/>
          </a:xfrm>
          <a:prstGeom prst="rect">
            <a:avLst/>
          </a:prstGeom>
          <a:noFill/>
          <a:ln>
            <a:noFill/>
          </a:ln>
        </p:spPr>
      </p:pic>
      <p:pic>
        <p:nvPicPr>
          <p:cNvPr descr="image.png" id="319" name="Google Shape;319;p24"/>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320" name="Google Shape;320;p24"/>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1" name="Google Shape;321;p24"/>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322" name="Google Shape;322;p24"/>
          <p:cNvSpPr txBox="1"/>
          <p:nvPr/>
        </p:nvSpPr>
        <p:spPr>
          <a:xfrm>
            <a:off x="11001375" y="6534150"/>
            <a:ext cx="5715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11 of 14</a:t>
            </a:r>
            <a:endParaRPr/>
          </a:p>
        </p:txBody>
      </p:sp>
      <p:sp>
        <p:nvSpPr>
          <p:cNvPr id="323" name="Google Shape;323;p24"/>
          <p:cNvSpPr txBox="1"/>
          <p:nvPr/>
        </p:nvSpPr>
        <p:spPr>
          <a:xfrm>
            <a:off x="619125" y="2079724"/>
            <a:ext cx="5310187"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284C7"/>
                </a:solidFill>
                <a:latin typeface="DM Sans SemiBold"/>
                <a:ea typeface="DM Sans SemiBold"/>
                <a:cs typeface="DM Sans SemiBold"/>
                <a:sym typeface="DM Sans SemiBold"/>
              </a:rPr>
              <a:t>5.2 Jetson TX2 Platform Specifications</a:t>
            </a:r>
            <a:endParaRPr/>
          </a:p>
        </p:txBody>
      </p:sp>
      <p:sp>
        <p:nvSpPr>
          <p:cNvPr id="324" name="Google Shape;324;p24"/>
          <p:cNvSpPr txBox="1"/>
          <p:nvPr/>
        </p:nvSpPr>
        <p:spPr>
          <a:xfrm>
            <a:off x="619125" y="2479774"/>
            <a:ext cx="5310187" cy="1104304"/>
          </a:xfrm>
          <a:prstGeom prst="rect">
            <a:avLst/>
          </a:prstGeom>
          <a:noFill/>
          <a:ln>
            <a:noFill/>
          </a:ln>
        </p:spPr>
        <p:txBody>
          <a:bodyPr anchorCtr="0" anchor="t" bIns="0" lIns="0" spcFirstLastPara="1" rIns="0" wrap="square" tIns="0">
            <a:spAutoFit/>
          </a:bodyPr>
          <a:lstStyle/>
          <a:p>
            <a:pPr indent="0" lvl="0" marL="0" marR="0" rtl="0" algn="l">
              <a:lnSpc>
                <a:spcPct val="159981"/>
              </a:lnSpc>
              <a:spcBef>
                <a:spcPts val="0"/>
              </a:spcBef>
              <a:spcAft>
                <a:spcPts val="0"/>
              </a:spcAft>
              <a:buNone/>
            </a:pPr>
            <a:r>
              <a:rPr b="0" i="0" lang="en-US" sz="1087" u="none" cap="none" strike="noStrike">
                <a:solidFill>
                  <a:srgbClr val="475569"/>
                </a:solidFill>
                <a:latin typeface="DM Sans"/>
                <a:ea typeface="DM Sans"/>
                <a:cs typeface="DM Sans"/>
                <a:sym typeface="DM Sans"/>
              </a:rPr>
              <a:t>Jetson TX2 is a high performance AI computing device, it contains a 256-core NVIDIA Pascal architecture GPU with a max frequency of 1.3GHz capable of 1.33 TFLOPS of performance, along with a Dual-core NVIDIA Denver 2 64-bit CPU and quad-core Arm Cortex-A57 MPCore processor, with max frequency of 2GHz for both of them.</a:t>
            </a:r>
            <a:endParaRPr/>
          </a:p>
        </p:txBody>
      </p:sp>
      <p:sp>
        <p:nvSpPr>
          <p:cNvPr id="325" name="Google Shape;325;p24"/>
          <p:cNvSpPr txBox="1"/>
          <p:nvPr/>
        </p:nvSpPr>
        <p:spPr>
          <a:xfrm>
            <a:off x="619125" y="3726953"/>
            <a:ext cx="5310187" cy="441721"/>
          </a:xfrm>
          <a:prstGeom prst="rect">
            <a:avLst/>
          </a:prstGeom>
          <a:noFill/>
          <a:ln>
            <a:noFill/>
          </a:ln>
        </p:spPr>
        <p:txBody>
          <a:bodyPr anchorCtr="0" anchor="t" bIns="0" lIns="0" spcFirstLastPara="1" rIns="0" wrap="square" tIns="0">
            <a:spAutoFit/>
          </a:bodyPr>
          <a:lstStyle/>
          <a:p>
            <a:pPr indent="0" lvl="0" marL="0" marR="0" rtl="0" algn="l">
              <a:lnSpc>
                <a:spcPct val="159981"/>
              </a:lnSpc>
              <a:spcBef>
                <a:spcPts val="0"/>
              </a:spcBef>
              <a:spcAft>
                <a:spcPts val="0"/>
              </a:spcAft>
              <a:buNone/>
            </a:pPr>
            <a:r>
              <a:rPr b="0" i="0" lang="en-US" sz="1087" u="none" cap="none" strike="noStrike">
                <a:solidFill>
                  <a:srgbClr val="475569"/>
                </a:solidFill>
                <a:latin typeface="DM Sans"/>
                <a:ea typeface="DM Sans"/>
                <a:cs typeface="DM Sans"/>
                <a:sym typeface="DM Sans"/>
              </a:rPr>
              <a:t>The system contains 8GB 128-bit LPDDR4 with bandwidth of 59.7GB/s and a 32GB eMMC 5.1 for storage.</a:t>
            </a:r>
            <a:endParaRPr/>
          </a:p>
        </p:txBody>
      </p:sp>
      <p:pic>
        <p:nvPicPr>
          <p:cNvPr descr="image.png" id="326" name="Google Shape;326;p24"/>
          <p:cNvPicPr preferRelativeResize="0"/>
          <p:nvPr/>
        </p:nvPicPr>
        <p:blipFill rotWithShape="1">
          <a:blip r:embed="rId6">
            <a:alphaModFix/>
          </a:blip>
          <a:srcRect b="0" l="0" r="0" t="0"/>
          <a:stretch/>
        </p:blipFill>
        <p:spPr>
          <a:xfrm>
            <a:off x="6272212" y="1323975"/>
            <a:ext cx="5291137" cy="3600450"/>
          </a:xfrm>
          <a:prstGeom prst="rect">
            <a:avLst/>
          </a:prstGeom>
          <a:noFill/>
          <a:ln>
            <a:noFill/>
          </a:ln>
        </p:spPr>
      </p:pic>
      <p:sp>
        <p:nvSpPr>
          <p:cNvPr id="327" name="Google Shape;327;p24"/>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5: Jetson TX2 Hardware</a:t>
            </a:r>
            <a:endParaRPr/>
          </a:p>
        </p:txBody>
      </p:sp>
      <p:sp>
        <p:nvSpPr>
          <p:cNvPr id="328" name="Google Shape;328;p24"/>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2" name="Shape 332"/>
        <p:cNvGrpSpPr/>
        <p:nvPr/>
      </p:nvGrpSpPr>
      <p:grpSpPr>
        <a:xfrm>
          <a:off x="0" y="0"/>
          <a:ext cx="0" cy="0"/>
          <a:chOff x="0" y="0"/>
          <a:chExt cx="0" cy="0"/>
        </a:xfrm>
      </p:grpSpPr>
      <p:pic>
        <p:nvPicPr>
          <p:cNvPr descr="image.png" id="333" name="Google Shape;333;p25"/>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334" name="Google Shape;334;p25"/>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335" name="Google Shape;335;p25"/>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6" name="Google Shape;336;p25"/>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337" name="Google Shape;337;p25"/>
          <p:cNvSpPr txBox="1"/>
          <p:nvPr/>
        </p:nvSpPr>
        <p:spPr>
          <a:xfrm>
            <a:off x="10972800" y="6534150"/>
            <a:ext cx="600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12 of 14</a:t>
            </a:r>
            <a:endParaRPr/>
          </a:p>
        </p:txBody>
      </p:sp>
      <p:sp>
        <p:nvSpPr>
          <p:cNvPr id="338" name="Google Shape;338;p25"/>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System Evaluation Results</a:t>
            </a:r>
            <a:endParaRPr/>
          </a:p>
        </p:txBody>
      </p:sp>
      <p:sp>
        <p:nvSpPr>
          <p:cNvPr id="339" name="Google Shape;339;p25"/>
          <p:cNvSpPr txBox="1"/>
          <p:nvPr/>
        </p:nvSpPr>
        <p:spPr>
          <a:xfrm>
            <a:off x="619125" y="1638300"/>
            <a:ext cx="5310300" cy="4242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050" u="none" cap="none" strike="noStrike">
                <a:solidFill>
                  <a:srgbClr val="334155"/>
                </a:solidFill>
                <a:latin typeface="DM Sans"/>
                <a:ea typeface="DM Sans"/>
                <a:cs typeface="DM Sans"/>
                <a:sym typeface="DM Sans"/>
              </a:rPr>
              <a:t>6.1 </a:t>
            </a:r>
            <a:r>
              <a:rPr b="1" lang="en-US" sz="1050">
                <a:solidFill>
                  <a:srgbClr val="334155"/>
                </a:solidFill>
                <a:latin typeface="DM Sans"/>
                <a:ea typeface="DM Sans"/>
                <a:cs typeface="DM Sans"/>
                <a:sym typeface="DM Sans"/>
              </a:rPr>
              <a:t>Channel</a:t>
            </a:r>
            <a:r>
              <a:rPr b="1" i="0" lang="en-US" sz="1050" u="none" cap="none" strike="noStrike">
                <a:solidFill>
                  <a:srgbClr val="334155"/>
                </a:solidFill>
                <a:latin typeface="DM Sans"/>
                <a:ea typeface="DM Sans"/>
                <a:cs typeface="DM Sans"/>
                <a:sym typeface="DM Sans"/>
              </a:rPr>
              <a:t> pruning results for the System:</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DM Sans"/>
                <a:ea typeface="DM Sans"/>
                <a:cs typeface="DM Sans"/>
                <a:sym typeface="DM Sans"/>
              </a:rPr>
              <a:t> The Results of evaluating the trained models of </a:t>
            </a:r>
            <a:r>
              <a:rPr lang="en-US" sz="1050">
                <a:solidFill>
                  <a:srgbClr val="334155"/>
                </a:solidFill>
                <a:latin typeface="DM Sans"/>
                <a:ea typeface="DM Sans"/>
                <a:cs typeface="DM Sans"/>
                <a:sym typeface="DM Sans"/>
              </a:rPr>
              <a:t>Channel </a:t>
            </a:r>
            <a:r>
              <a:rPr b="0" i="0" lang="en-US" sz="1050" u="none" cap="none" strike="noStrike">
                <a:solidFill>
                  <a:srgbClr val="334155"/>
                </a:solidFill>
                <a:latin typeface="DM Sans"/>
                <a:ea typeface="DM Sans"/>
                <a:cs typeface="DM Sans"/>
                <a:sym typeface="DM Sans"/>
              </a:rPr>
              <a:t>pruning across VGG16, ResNet50 and MobileNetV2 are shown below.</a:t>
            </a:r>
            <a:endParaRPr/>
          </a:p>
        </p:txBody>
      </p:sp>
      <p:sp>
        <p:nvSpPr>
          <p:cNvPr id="340" name="Google Shape;340;p25"/>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System Results</a:t>
            </a:r>
            <a:endParaRPr/>
          </a:p>
        </p:txBody>
      </p:sp>
      <p:sp>
        <p:nvSpPr>
          <p:cNvPr id="341" name="Google Shape;341;p25"/>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42" name="Google Shape;342;p25" title="Test Accuracy for Channel Pruning.png"/>
          <p:cNvPicPr preferRelativeResize="0"/>
          <p:nvPr/>
        </p:nvPicPr>
        <p:blipFill rotWithShape="1">
          <a:blip r:embed="rId6">
            <a:alphaModFix/>
          </a:blip>
          <a:srcRect b="0" l="0" r="0" t="0"/>
          <a:stretch/>
        </p:blipFill>
        <p:spPr>
          <a:xfrm>
            <a:off x="6766450" y="485775"/>
            <a:ext cx="4278274" cy="2645400"/>
          </a:xfrm>
          <a:prstGeom prst="rect">
            <a:avLst/>
          </a:prstGeom>
          <a:noFill/>
          <a:ln>
            <a:noFill/>
          </a:ln>
        </p:spPr>
      </p:pic>
      <p:pic>
        <p:nvPicPr>
          <p:cNvPr id="343" name="Google Shape;343;p25" title="Footprint Size for Channel Pruning.png"/>
          <p:cNvPicPr preferRelativeResize="0"/>
          <p:nvPr/>
        </p:nvPicPr>
        <p:blipFill rotWithShape="1">
          <a:blip r:embed="rId7">
            <a:alphaModFix/>
          </a:blip>
          <a:srcRect b="0" l="0" r="0" t="0"/>
          <a:stretch/>
        </p:blipFill>
        <p:spPr>
          <a:xfrm>
            <a:off x="862000" y="3701150"/>
            <a:ext cx="4057925" cy="2509150"/>
          </a:xfrm>
          <a:prstGeom prst="rect">
            <a:avLst/>
          </a:prstGeom>
          <a:noFill/>
          <a:ln>
            <a:noFill/>
          </a:ln>
        </p:spPr>
      </p:pic>
      <p:pic>
        <p:nvPicPr>
          <p:cNvPr id="344" name="Google Shape;344;p25" title="Inference Time for Channel Pruning.png"/>
          <p:cNvPicPr preferRelativeResize="0"/>
          <p:nvPr/>
        </p:nvPicPr>
        <p:blipFill rotWithShape="1">
          <a:blip r:embed="rId8">
            <a:alphaModFix/>
          </a:blip>
          <a:srcRect b="0" l="0" r="0" t="0"/>
          <a:stretch/>
        </p:blipFill>
        <p:spPr>
          <a:xfrm>
            <a:off x="6876625" y="3701150"/>
            <a:ext cx="4057924" cy="2509152"/>
          </a:xfrm>
          <a:prstGeom prst="rect">
            <a:avLst/>
          </a:prstGeom>
          <a:noFill/>
          <a:ln>
            <a:noFill/>
          </a:ln>
        </p:spPr>
      </p:pic>
      <p:pic>
        <p:nvPicPr>
          <p:cNvPr id="345" name="Google Shape;345;p25"/>
          <p:cNvPicPr preferRelativeResize="0"/>
          <p:nvPr/>
        </p:nvPicPr>
        <p:blipFill rotWithShape="1">
          <a:blip r:embed="rId9">
            <a:alphaModFix/>
          </a:blip>
          <a:srcRect b="20729" l="0" r="2979" t="0"/>
          <a:stretch/>
        </p:blipFill>
        <p:spPr>
          <a:xfrm>
            <a:off x="862000" y="2285072"/>
            <a:ext cx="2848554" cy="6553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9" name="Shape 349"/>
        <p:cNvGrpSpPr/>
        <p:nvPr/>
      </p:nvGrpSpPr>
      <p:grpSpPr>
        <a:xfrm>
          <a:off x="0" y="0"/>
          <a:ext cx="0" cy="0"/>
          <a:chOff x="0" y="0"/>
          <a:chExt cx="0" cy="0"/>
        </a:xfrm>
      </p:grpSpPr>
      <p:pic>
        <p:nvPicPr>
          <p:cNvPr descr="image.png" id="350" name="Google Shape;350;p26"/>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351" name="Google Shape;351;p26"/>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352" name="Google Shape;352;p26"/>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53" name="Google Shape;353;p26"/>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354" name="Google Shape;354;p26"/>
          <p:cNvSpPr txBox="1"/>
          <p:nvPr/>
        </p:nvSpPr>
        <p:spPr>
          <a:xfrm>
            <a:off x="10972800" y="6534150"/>
            <a:ext cx="600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12 of 14</a:t>
            </a:r>
            <a:endParaRPr/>
          </a:p>
        </p:txBody>
      </p:sp>
      <p:sp>
        <p:nvSpPr>
          <p:cNvPr id="355" name="Google Shape;355;p26"/>
          <p:cNvSpPr txBox="1"/>
          <p:nvPr/>
        </p:nvSpPr>
        <p:spPr>
          <a:xfrm>
            <a:off x="619125" y="1154288"/>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System Evaluation Results</a:t>
            </a:r>
            <a:endParaRPr/>
          </a:p>
        </p:txBody>
      </p:sp>
      <p:sp>
        <p:nvSpPr>
          <p:cNvPr id="356" name="Google Shape;356;p26"/>
          <p:cNvSpPr txBox="1"/>
          <p:nvPr/>
        </p:nvSpPr>
        <p:spPr>
          <a:xfrm>
            <a:off x="619125" y="1596375"/>
            <a:ext cx="5310300" cy="4242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050" u="none" cap="none" strike="noStrike">
                <a:solidFill>
                  <a:srgbClr val="334155"/>
                </a:solidFill>
                <a:latin typeface="DM Sans"/>
                <a:ea typeface="DM Sans"/>
                <a:cs typeface="DM Sans"/>
                <a:sym typeface="DM Sans"/>
              </a:rPr>
              <a:t>6.</a:t>
            </a:r>
            <a:r>
              <a:rPr b="1" lang="en-US" sz="1050">
                <a:solidFill>
                  <a:srgbClr val="334155"/>
                </a:solidFill>
                <a:latin typeface="DM Sans"/>
                <a:ea typeface="DM Sans"/>
                <a:cs typeface="DM Sans"/>
                <a:sym typeface="DM Sans"/>
              </a:rPr>
              <a:t>2</a:t>
            </a:r>
            <a:r>
              <a:rPr b="1" i="0" lang="en-US" sz="1050" u="none" cap="none" strike="noStrike">
                <a:solidFill>
                  <a:srgbClr val="334155"/>
                </a:solidFill>
                <a:latin typeface="DM Sans"/>
                <a:ea typeface="DM Sans"/>
                <a:cs typeface="DM Sans"/>
                <a:sym typeface="DM Sans"/>
              </a:rPr>
              <a:t> Neuron pruning results for the System:</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DM Sans"/>
                <a:ea typeface="DM Sans"/>
                <a:cs typeface="DM Sans"/>
                <a:sym typeface="DM Sans"/>
              </a:rPr>
              <a:t> The Results of evaluating the trained models of neuron pruning across VGG16, ResNet50 and MobileNetV2 are shown below.</a:t>
            </a:r>
            <a:endParaRPr/>
          </a:p>
        </p:txBody>
      </p:sp>
      <p:sp>
        <p:nvSpPr>
          <p:cNvPr id="357" name="Google Shape;357;p26"/>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System Results</a:t>
            </a:r>
            <a:endParaRPr/>
          </a:p>
        </p:txBody>
      </p:sp>
      <p:sp>
        <p:nvSpPr>
          <p:cNvPr id="358" name="Google Shape;358;p26"/>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59" name="Google Shape;359;p26" title="Test Accuracy for Neuron Pruning.png"/>
          <p:cNvPicPr preferRelativeResize="0"/>
          <p:nvPr/>
        </p:nvPicPr>
        <p:blipFill>
          <a:blip r:embed="rId6">
            <a:alphaModFix/>
          </a:blip>
          <a:stretch>
            <a:fillRect/>
          </a:stretch>
        </p:blipFill>
        <p:spPr>
          <a:xfrm>
            <a:off x="6766450" y="485775"/>
            <a:ext cx="4278274" cy="2645400"/>
          </a:xfrm>
          <a:prstGeom prst="rect">
            <a:avLst/>
          </a:prstGeom>
          <a:noFill/>
          <a:ln>
            <a:noFill/>
          </a:ln>
        </p:spPr>
      </p:pic>
      <p:pic>
        <p:nvPicPr>
          <p:cNvPr id="360" name="Google Shape;360;p26" title="Footprint Sizefor Neuron Pruning.png"/>
          <p:cNvPicPr preferRelativeResize="0"/>
          <p:nvPr/>
        </p:nvPicPr>
        <p:blipFill>
          <a:blip r:embed="rId7">
            <a:alphaModFix/>
          </a:blip>
          <a:stretch>
            <a:fillRect/>
          </a:stretch>
        </p:blipFill>
        <p:spPr>
          <a:xfrm>
            <a:off x="661975" y="4158350"/>
            <a:ext cx="4057925" cy="2509150"/>
          </a:xfrm>
          <a:prstGeom prst="rect">
            <a:avLst/>
          </a:prstGeom>
          <a:noFill/>
          <a:ln>
            <a:noFill/>
          </a:ln>
        </p:spPr>
      </p:pic>
      <p:pic>
        <p:nvPicPr>
          <p:cNvPr id="361" name="Google Shape;361;p26" title="Inference Time for Neuron Pruning.png"/>
          <p:cNvPicPr preferRelativeResize="0"/>
          <p:nvPr/>
        </p:nvPicPr>
        <p:blipFill>
          <a:blip r:embed="rId8">
            <a:alphaModFix/>
          </a:blip>
          <a:stretch>
            <a:fillRect/>
          </a:stretch>
        </p:blipFill>
        <p:spPr>
          <a:xfrm>
            <a:off x="6876625" y="4025000"/>
            <a:ext cx="4057924" cy="2509152"/>
          </a:xfrm>
          <a:prstGeom prst="rect">
            <a:avLst/>
          </a:prstGeom>
          <a:noFill/>
          <a:ln>
            <a:noFill/>
          </a:ln>
        </p:spPr>
      </p:pic>
      <p:pic>
        <p:nvPicPr>
          <p:cNvPr id="362" name="Google Shape;362;p26"/>
          <p:cNvPicPr preferRelativeResize="0"/>
          <p:nvPr/>
        </p:nvPicPr>
        <p:blipFill rotWithShape="1">
          <a:blip r:embed="rId9">
            <a:alphaModFix/>
          </a:blip>
          <a:srcRect b="20729" l="0" r="2979" t="0"/>
          <a:stretch/>
        </p:blipFill>
        <p:spPr>
          <a:xfrm>
            <a:off x="619125" y="2897698"/>
            <a:ext cx="2309400" cy="531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6" name="Shape 366"/>
        <p:cNvGrpSpPr/>
        <p:nvPr/>
      </p:nvGrpSpPr>
      <p:grpSpPr>
        <a:xfrm>
          <a:off x="0" y="0"/>
          <a:ext cx="0" cy="0"/>
          <a:chOff x="0" y="0"/>
          <a:chExt cx="0" cy="0"/>
        </a:xfrm>
      </p:grpSpPr>
      <p:pic>
        <p:nvPicPr>
          <p:cNvPr descr="image.png" id="367" name="Google Shape;367;p27"/>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368" name="Google Shape;368;p27"/>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369" name="Google Shape;369;p27"/>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0" name="Google Shape;370;p27"/>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371" name="Google Shape;371;p27"/>
          <p:cNvSpPr txBox="1"/>
          <p:nvPr/>
        </p:nvSpPr>
        <p:spPr>
          <a:xfrm>
            <a:off x="10972800" y="6534150"/>
            <a:ext cx="6000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12 of 14</a:t>
            </a:r>
            <a:endParaRPr/>
          </a:p>
        </p:txBody>
      </p:sp>
      <p:sp>
        <p:nvSpPr>
          <p:cNvPr id="372" name="Google Shape;372;p27"/>
          <p:cNvSpPr txBox="1"/>
          <p:nvPr/>
        </p:nvSpPr>
        <p:spPr>
          <a:xfrm>
            <a:off x="619125" y="1314450"/>
            <a:ext cx="5310187"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System Evaluation Results</a:t>
            </a:r>
            <a:endParaRPr/>
          </a:p>
        </p:txBody>
      </p:sp>
      <p:sp>
        <p:nvSpPr>
          <p:cNvPr id="373" name="Google Shape;373;p27"/>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6.3 Layer pruning results for the System:</a:t>
            </a:r>
            <a:endParaRPr b="1"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300">
                <a:solidFill>
                  <a:schemeClr val="dk1"/>
                </a:solidFill>
              </a:rPr>
              <a:t>The Results of evaluating the trained models of layer pruning across VGG16, ResNet50 and MobileNetV2 are shown below,</a:t>
            </a:r>
            <a:endParaRPr b="1" sz="1050">
              <a:solidFill>
                <a:srgbClr val="334155"/>
              </a:solidFill>
              <a:latin typeface="DM Sans"/>
              <a:ea typeface="DM Sans"/>
              <a:cs typeface="DM Sans"/>
              <a:sym typeface="DM Sans"/>
            </a:endParaRPr>
          </a:p>
        </p:txBody>
      </p:sp>
      <p:sp>
        <p:nvSpPr>
          <p:cNvPr id="374" name="Google Shape;374;p27"/>
          <p:cNvSpPr txBox="1"/>
          <p:nvPr/>
        </p:nvSpPr>
        <p:spPr>
          <a:xfrm>
            <a:off x="619125" y="3067050"/>
            <a:ext cx="5310300" cy="1887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t/>
            </a:r>
            <a:endParaRPr/>
          </a:p>
        </p:txBody>
      </p:sp>
      <p:sp>
        <p:nvSpPr>
          <p:cNvPr id="375" name="Google Shape;375;p27"/>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System Results</a:t>
            </a:r>
            <a:endParaRPr/>
          </a:p>
        </p:txBody>
      </p:sp>
      <p:sp>
        <p:nvSpPr>
          <p:cNvPr id="376" name="Google Shape;376;p27"/>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77" name="Google Shape;377;p27" title="Test Accuracy for Layer Pruning.png"/>
          <p:cNvPicPr preferRelativeResize="0"/>
          <p:nvPr/>
        </p:nvPicPr>
        <p:blipFill>
          <a:blip r:embed="rId6">
            <a:alphaModFix/>
          </a:blip>
          <a:stretch>
            <a:fillRect/>
          </a:stretch>
        </p:blipFill>
        <p:spPr>
          <a:xfrm>
            <a:off x="7178288" y="411863"/>
            <a:ext cx="4394576" cy="2717316"/>
          </a:xfrm>
          <a:prstGeom prst="rect">
            <a:avLst/>
          </a:prstGeom>
          <a:noFill/>
          <a:ln>
            <a:noFill/>
          </a:ln>
        </p:spPr>
      </p:pic>
      <p:pic>
        <p:nvPicPr>
          <p:cNvPr id="378" name="Google Shape;378;p27" title="Footprint Size for Layer Pruning.png"/>
          <p:cNvPicPr preferRelativeResize="0"/>
          <p:nvPr/>
        </p:nvPicPr>
        <p:blipFill>
          <a:blip r:embed="rId7">
            <a:alphaModFix/>
          </a:blip>
          <a:stretch>
            <a:fillRect/>
          </a:stretch>
        </p:blipFill>
        <p:spPr>
          <a:xfrm>
            <a:off x="1076913" y="3483900"/>
            <a:ext cx="4394597" cy="2717326"/>
          </a:xfrm>
          <a:prstGeom prst="rect">
            <a:avLst/>
          </a:prstGeom>
          <a:noFill/>
          <a:ln>
            <a:noFill/>
          </a:ln>
        </p:spPr>
      </p:pic>
      <p:pic>
        <p:nvPicPr>
          <p:cNvPr id="379" name="Google Shape;379;p27" title="Inference Time for Layer Pruning.png"/>
          <p:cNvPicPr preferRelativeResize="0"/>
          <p:nvPr/>
        </p:nvPicPr>
        <p:blipFill>
          <a:blip r:embed="rId8">
            <a:alphaModFix/>
          </a:blip>
          <a:stretch>
            <a:fillRect/>
          </a:stretch>
        </p:blipFill>
        <p:spPr>
          <a:xfrm>
            <a:off x="7178284" y="3483900"/>
            <a:ext cx="4394597" cy="27173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83" name="Shape 383"/>
        <p:cNvGrpSpPr/>
        <p:nvPr/>
      </p:nvGrpSpPr>
      <p:grpSpPr>
        <a:xfrm>
          <a:off x="0" y="0"/>
          <a:ext cx="0" cy="0"/>
          <a:chOff x="0" y="0"/>
          <a:chExt cx="0" cy="0"/>
        </a:xfrm>
      </p:grpSpPr>
      <p:pic>
        <p:nvPicPr>
          <p:cNvPr descr="image.png" id="384" name="Google Shape;384;p28"/>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385" name="Google Shape;385;p28"/>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386" name="Google Shape;386;p28"/>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87" name="Google Shape;387;p28"/>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388" name="Google Shape;388;p28"/>
          <p:cNvSpPr txBox="1"/>
          <p:nvPr/>
        </p:nvSpPr>
        <p:spPr>
          <a:xfrm>
            <a:off x="10972800" y="6534150"/>
            <a:ext cx="600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12 of 14</a:t>
            </a:r>
            <a:endParaRPr/>
          </a:p>
        </p:txBody>
      </p:sp>
      <p:sp>
        <p:nvSpPr>
          <p:cNvPr id="389" name="Google Shape;389;p28"/>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System Evaluation Results</a:t>
            </a:r>
            <a:endParaRPr/>
          </a:p>
        </p:txBody>
      </p:sp>
      <p:sp>
        <p:nvSpPr>
          <p:cNvPr id="390" name="Google Shape;390;p28"/>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6.4 Dropout results for the System:</a:t>
            </a:r>
            <a:endParaRPr b="1"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300">
                <a:solidFill>
                  <a:schemeClr val="dk1"/>
                </a:solidFill>
              </a:rPr>
              <a:t>The Results of evaluating the trained models of dropouts across VGG16, ResNet50 and MobileNetV2 are shown below,</a:t>
            </a:r>
            <a:endParaRPr b="1" sz="1050">
              <a:solidFill>
                <a:srgbClr val="334155"/>
              </a:solidFill>
              <a:latin typeface="DM Sans"/>
              <a:ea typeface="DM Sans"/>
              <a:cs typeface="DM Sans"/>
              <a:sym typeface="DM Sans"/>
            </a:endParaRPr>
          </a:p>
        </p:txBody>
      </p:sp>
      <p:sp>
        <p:nvSpPr>
          <p:cNvPr id="391" name="Google Shape;391;p28"/>
          <p:cNvSpPr txBox="1"/>
          <p:nvPr/>
        </p:nvSpPr>
        <p:spPr>
          <a:xfrm>
            <a:off x="619125" y="3067050"/>
            <a:ext cx="5310300" cy="1887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t/>
            </a:r>
            <a:endParaRPr/>
          </a:p>
        </p:txBody>
      </p:sp>
      <p:sp>
        <p:nvSpPr>
          <p:cNvPr id="392" name="Google Shape;392;p28"/>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System Results</a:t>
            </a:r>
            <a:endParaRPr/>
          </a:p>
        </p:txBody>
      </p:sp>
      <p:sp>
        <p:nvSpPr>
          <p:cNvPr id="393" name="Google Shape;393;p28"/>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94" name="Google Shape;394;p28" title="Test Accuracy for Dropout.png"/>
          <p:cNvPicPr preferRelativeResize="0"/>
          <p:nvPr/>
        </p:nvPicPr>
        <p:blipFill rotWithShape="1">
          <a:blip r:embed="rId6">
            <a:alphaModFix/>
          </a:blip>
          <a:srcRect b="0" l="0" r="0" t="0"/>
          <a:stretch/>
        </p:blipFill>
        <p:spPr>
          <a:xfrm>
            <a:off x="7178288" y="3483900"/>
            <a:ext cx="4394576" cy="2717316"/>
          </a:xfrm>
          <a:prstGeom prst="rect">
            <a:avLst/>
          </a:prstGeom>
          <a:noFill/>
          <a:ln>
            <a:noFill/>
          </a:ln>
        </p:spPr>
      </p:pic>
      <p:pic>
        <p:nvPicPr>
          <p:cNvPr id="395" name="Google Shape;395;p28" title="Inference Time for Dropout.png"/>
          <p:cNvPicPr preferRelativeResize="0"/>
          <p:nvPr/>
        </p:nvPicPr>
        <p:blipFill rotWithShape="1">
          <a:blip r:embed="rId7">
            <a:alphaModFix/>
          </a:blip>
          <a:srcRect b="0" l="0" r="0" t="0"/>
          <a:stretch/>
        </p:blipFill>
        <p:spPr>
          <a:xfrm>
            <a:off x="862009" y="3483900"/>
            <a:ext cx="4394597" cy="2717326"/>
          </a:xfrm>
          <a:prstGeom prst="rect">
            <a:avLst/>
          </a:prstGeom>
          <a:noFill/>
          <a:ln>
            <a:noFill/>
          </a:ln>
        </p:spPr>
      </p:pic>
      <p:sp>
        <p:nvSpPr>
          <p:cNvPr id="396" name="Google Shape;396;p28"/>
          <p:cNvSpPr txBox="1"/>
          <p:nvPr/>
        </p:nvSpPr>
        <p:spPr>
          <a:xfrm>
            <a:off x="7178300" y="1274677"/>
            <a:ext cx="4289400" cy="120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solidFill>
                  <a:schemeClr val="dk1"/>
                </a:solidFill>
                <a:latin typeface="Cambria Math"/>
                <a:ea typeface="Cambria Math"/>
                <a:cs typeface="Cambria Math"/>
                <a:sym typeface="Cambria Math"/>
              </a:rPr>
              <a:t>d</a:t>
            </a:r>
            <a:r>
              <a:rPr baseline="30000" lang="en-US" sz="1600">
                <a:solidFill>
                  <a:schemeClr val="dk1"/>
                </a:solidFill>
                <a:latin typeface="Cambria Math"/>
                <a:ea typeface="Cambria Math"/>
                <a:cs typeface="Cambria Math"/>
                <a:sym typeface="Cambria Math"/>
              </a:rPr>
              <a:t>[l]</a:t>
            </a:r>
            <a:r>
              <a:rPr lang="en-US">
                <a:solidFill>
                  <a:schemeClr val="dk1"/>
                </a:solidFill>
                <a:latin typeface="Cambria Math"/>
                <a:ea typeface="Cambria Math"/>
                <a:cs typeface="Cambria Math"/>
                <a:sym typeface="Cambria Math"/>
              </a:rPr>
              <a:t>∼</a:t>
            </a:r>
            <a:r>
              <a:rPr lang="en-US" sz="1200">
                <a:solidFill>
                  <a:schemeClr val="dk1"/>
                </a:solidFill>
                <a:latin typeface="Cambria Math"/>
                <a:ea typeface="Cambria Math"/>
                <a:cs typeface="Cambria Math"/>
                <a:sym typeface="Cambria Math"/>
              </a:rPr>
              <a:t>Bernoulli(p)</a:t>
            </a:r>
            <a:endParaRPr sz="1200">
              <a:solidFill>
                <a:schemeClr val="dk1"/>
              </a:solidFill>
              <a:latin typeface="Cambria Math"/>
              <a:ea typeface="Cambria Math"/>
              <a:cs typeface="Cambria Math"/>
              <a:sym typeface="Cambria Math"/>
            </a:endParaRPr>
          </a:p>
          <a:p>
            <a:pPr indent="0" lvl="0" marL="0" rtl="0" algn="l">
              <a:lnSpc>
                <a:spcPct val="115000"/>
              </a:lnSpc>
              <a:spcBef>
                <a:spcPts val="1200"/>
              </a:spcBef>
              <a:spcAft>
                <a:spcPts val="0"/>
              </a:spcAft>
              <a:buNone/>
            </a:pPr>
            <a:r>
              <a:rPr lang="en-US" sz="1100">
                <a:solidFill>
                  <a:schemeClr val="dk1"/>
                </a:solidFill>
                <a:latin typeface="Cambria Math"/>
                <a:ea typeface="Cambria Math"/>
                <a:cs typeface="Cambria Math"/>
                <a:sym typeface="Cambria Math"/>
              </a:rPr>
              <a:t>100*(1-keep_prob)%</a:t>
            </a:r>
            <a:r>
              <a:rPr lang="en-US" sz="1100">
                <a:solidFill>
                  <a:schemeClr val="dk1"/>
                </a:solidFill>
              </a:rPr>
              <a:t> of entries are zeroed out in the product step</a:t>
            </a:r>
            <a:endParaRPr sz="1100">
              <a:solidFill>
                <a:schemeClr val="dk1"/>
              </a:solidFill>
            </a:endParaRPr>
          </a:p>
          <a:p>
            <a:pPr indent="0" lvl="0" marL="0" rtl="0" algn="l">
              <a:lnSpc>
                <a:spcPct val="115000"/>
              </a:lnSpc>
              <a:spcBef>
                <a:spcPts val="1200"/>
              </a:spcBef>
              <a:spcAft>
                <a:spcPts val="1200"/>
              </a:spcAft>
              <a:buNone/>
            </a:pPr>
            <a:r>
              <a:rPr lang="en-US" sz="1300">
                <a:solidFill>
                  <a:schemeClr val="dk1"/>
                </a:solidFill>
                <a:latin typeface="Cambria Math"/>
                <a:ea typeface="Cambria Math"/>
                <a:cs typeface="Cambria Math"/>
                <a:sym typeface="Cambria Math"/>
              </a:rPr>
              <a:t>a</a:t>
            </a:r>
            <a:r>
              <a:rPr baseline="30000" lang="en-US" sz="1500">
                <a:solidFill>
                  <a:schemeClr val="dk1"/>
                </a:solidFill>
                <a:latin typeface="Cambria Math"/>
                <a:ea typeface="Cambria Math"/>
                <a:cs typeface="Cambria Math"/>
                <a:sym typeface="Cambria Math"/>
              </a:rPr>
              <a:t>[l] </a:t>
            </a:r>
            <a:r>
              <a:rPr lang="en-US" sz="1300">
                <a:solidFill>
                  <a:schemeClr val="dk1"/>
                </a:solidFill>
                <a:latin typeface="Cambria Math"/>
                <a:ea typeface="Cambria Math"/>
                <a:cs typeface="Cambria Math"/>
                <a:sym typeface="Cambria Math"/>
              </a:rPr>
              <a:t>= a</a:t>
            </a:r>
            <a:r>
              <a:rPr baseline="30000" lang="en-US" sz="1500">
                <a:solidFill>
                  <a:schemeClr val="dk1"/>
                </a:solidFill>
                <a:latin typeface="Cambria Math"/>
                <a:ea typeface="Cambria Math"/>
                <a:cs typeface="Cambria Math"/>
                <a:sym typeface="Cambria Math"/>
              </a:rPr>
              <a:t>[l]</a:t>
            </a:r>
            <a:r>
              <a:rPr lang="en-US" sz="1300">
                <a:solidFill>
                  <a:schemeClr val="dk1"/>
                </a:solidFill>
                <a:latin typeface="Cambria Math"/>
                <a:ea typeface="Cambria Math"/>
                <a:cs typeface="Cambria Math"/>
                <a:sym typeface="Cambria Math"/>
              </a:rPr>
              <a:t>⊙d</a:t>
            </a:r>
            <a:r>
              <a:rPr baseline="30000" lang="en-US" sz="1500">
                <a:solidFill>
                  <a:schemeClr val="dk1"/>
                </a:solidFill>
                <a:latin typeface="Cambria Math"/>
                <a:ea typeface="Cambria Math"/>
                <a:cs typeface="Cambria Math"/>
                <a:sym typeface="Cambria Math"/>
              </a:rPr>
              <a:t>[l]</a:t>
            </a:r>
            <a:endParaRPr sz="1200"/>
          </a:p>
        </p:txBody>
      </p:sp>
      <p:sp>
        <p:nvSpPr>
          <p:cNvPr id="397" name="Google Shape;397;p28"/>
          <p:cNvSpPr txBox="1"/>
          <p:nvPr/>
        </p:nvSpPr>
        <p:spPr>
          <a:xfrm>
            <a:off x="7178300" y="279405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latin typeface="Cambria Math"/>
                <a:ea typeface="Cambria Math"/>
                <a:cs typeface="Cambria Math"/>
                <a:sym typeface="Cambria Math"/>
              </a:rPr>
              <a:t>a</a:t>
            </a:r>
            <a:r>
              <a:rPr baseline="30000" lang="en-US" sz="1800">
                <a:solidFill>
                  <a:schemeClr val="dk1"/>
                </a:solidFill>
                <a:latin typeface="Cambria Math"/>
                <a:ea typeface="Cambria Math"/>
                <a:cs typeface="Cambria Math"/>
                <a:sym typeface="Cambria Math"/>
              </a:rPr>
              <a:t>[l] </a:t>
            </a:r>
            <a:r>
              <a:rPr lang="en-US" sz="1600">
                <a:solidFill>
                  <a:schemeClr val="dk1"/>
                </a:solidFill>
                <a:latin typeface="Cambria Math"/>
                <a:ea typeface="Cambria Math"/>
                <a:cs typeface="Cambria Math"/>
                <a:sym typeface="Cambria Math"/>
              </a:rPr>
              <a:t>= (a</a:t>
            </a:r>
            <a:r>
              <a:rPr baseline="30000" lang="en-US" sz="1800">
                <a:solidFill>
                  <a:schemeClr val="dk1"/>
                </a:solidFill>
                <a:latin typeface="Cambria Math"/>
                <a:ea typeface="Cambria Math"/>
                <a:cs typeface="Cambria Math"/>
                <a:sym typeface="Cambria Math"/>
              </a:rPr>
              <a:t>[l]</a:t>
            </a:r>
            <a:r>
              <a:rPr lang="en-US" sz="1600">
                <a:solidFill>
                  <a:schemeClr val="dk1"/>
                </a:solidFill>
                <a:latin typeface="Cambria Math"/>
                <a:ea typeface="Cambria Math"/>
                <a:cs typeface="Cambria Math"/>
                <a:sym typeface="Cambria Math"/>
              </a:rPr>
              <a:t>⊙d</a:t>
            </a:r>
            <a:r>
              <a:rPr baseline="30000" lang="en-US" sz="1800">
                <a:solidFill>
                  <a:schemeClr val="dk1"/>
                </a:solidFill>
                <a:latin typeface="Cambria Math"/>
                <a:ea typeface="Cambria Math"/>
                <a:cs typeface="Cambria Math"/>
                <a:sym typeface="Cambria Math"/>
              </a:rPr>
              <a:t>[l]</a:t>
            </a:r>
            <a:r>
              <a:rPr lang="en-US" sz="1800">
                <a:solidFill>
                  <a:schemeClr val="dk1"/>
                </a:solidFill>
                <a:latin typeface="Cambria Math"/>
                <a:ea typeface="Cambria Math"/>
                <a:cs typeface="Cambria Math"/>
                <a:sym typeface="Cambria Math"/>
              </a:rPr>
              <a:t>)/p.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1" name="Shape 401"/>
        <p:cNvGrpSpPr/>
        <p:nvPr/>
      </p:nvGrpSpPr>
      <p:grpSpPr>
        <a:xfrm>
          <a:off x="0" y="0"/>
          <a:ext cx="0" cy="0"/>
          <a:chOff x="0" y="0"/>
          <a:chExt cx="0" cy="0"/>
        </a:xfrm>
      </p:grpSpPr>
      <p:pic>
        <p:nvPicPr>
          <p:cNvPr descr="image.png" id="402" name="Google Shape;402;p29"/>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403" name="Google Shape;403;p29"/>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404" name="Google Shape;404;p29"/>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05" name="Google Shape;405;p29"/>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406" name="Google Shape;406;p29"/>
          <p:cNvSpPr txBox="1"/>
          <p:nvPr/>
        </p:nvSpPr>
        <p:spPr>
          <a:xfrm>
            <a:off x="10972800" y="6534150"/>
            <a:ext cx="600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12 of 14</a:t>
            </a:r>
            <a:endParaRPr/>
          </a:p>
        </p:txBody>
      </p:sp>
      <p:sp>
        <p:nvSpPr>
          <p:cNvPr id="407" name="Google Shape;407;p29"/>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System Evaluation Results</a:t>
            </a:r>
            <a:endParaRPr/>
          </a:p>
        </p:txBody>
      </p:sp>
      <p:sp>
        <p:nvSpPr>
          <p:cNvPr id="408" name="Google Shape;408;p29"/>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b="1" lang="en-US" sz="1300">
                <a:solidFill>
                  <a:schemeClr val="dk1"/>
                </a:solidFill>
              </a:rPr>
              <a:t>6.5 Quantization results for the System:</a:t>
            </a:r>
            <a:endParaRPr b="1" sz="1300">
              <a:solidFill>
                <a:schemeClr val="dk1"/>
              </a:solidFill>
            </a:endParaRPr>
          </a:p>
          <a:p>
            <a:pPr indent="0" lvl="0" marL="0" rtl="0" algn="l">
              <a:lnSpc>
                <a:spcPct val="115000"/>
              </a:lnSpc>
              <a:spcBef>
                <a:spcPts val="1200"/>
              </a:spcBef>
              <a:spcAft>
                <a:spcPts val="1200"/>
              </a:spcAft>
              <a:buSzPts val="1100"/>
              <a:buNone/>
            </a:pPr>
            <a:r>
              <a:rPr lang="en-US" sz="1300">
                <a:solidFill>
                  <a:schemeClr val="dk1"/>
                </a:solidFill>
              </a:rPr>
              <a:t>The Results of evaluating the trained models of quantization across VGG16, ResNet50 and MobileNetV2 are shown below,</a:t>
            </a:r>
            <a:endParaRPr b="1" sz="1300">
              <a:solidFill>
                <a:schemeClr val="dk1"/>
              </a:solidFill>
            </a:endParaRPr>
          </a:p>
        </p:txBody>
      </p:sp>
      <p:sp>
        <p:nvSpPr>
          <p:cNvPr id="409" name="Google Shape;409;p29"/>
          <p:cNvSpPr txBox="1"/>
          <p:nvPr/>
        </p:nvSpPr>
        <p:spPr>
          <a:xfrm>
            <a:off x="619125" y="3067050"/>
            <a:ext cx="5310300" cy="1887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t/>
            </a:r>
            <a:endParaRPr/>
          </a:p>
        </p:txBody>
      </p:sp>
      <p:sp>
        <p:nvSpPr>
          <p:cNvPr id="410" name="Google Shape;410;p29"/>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System Results</a:t>
            </a:r>
            <a:endParaRPr/>
          </a:p>
        </p:txBody>
      </p:sp>
      <p:sp>
        <p:nvSpPr>
          <p:cNvPr id="411" name="Google Shape;411;p29"/>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12" name="Google Shape;412;p29" title="Test Accuracy  for Quantization.png"/>
          <p:cNvPicPr preferRelativeResize="0"/>
          <p:nvPr/>
        </p:nvPicPr>
        <p:blipFill rotWithShape="1">
          <a:blip r:embed="rId6">
            <a:alphaModFix/>
          </a:blip>
          <a:srcRect b="0" l="0" r="0" t="0"/>
          <a:stretch/>
        </p:blipFill>
        <p:spPr>
          <a:xfrm>
            <a:off x="7178288" y="411863"/>
            <a:ext cx="4394576" cy="2717316"/>
          </a:xfrm>
          <a:prstGeom prst="rect">
            <a:avLst/>
          </a:prstGeom>
          <a:noFill/>
          <a:ln>
            <a:noFill/>
          </a:ln>
        </p:spPr>
      </p:pic>
      <p:pic>
        <p:nvPicPr>
          <p:cNvPr id="413" name="Google Shape;413;p29" title="Footprint Size for Quantization.png"/>
          <p:cNvPicPr preferRelativeResize="0"/>
          <p:nvPr/>
        </p:nvPicPr>
        <p:blipFill rotWithShape="1">
          <a:blip r:embed="rId7">
            <a:alphaModFix/>
          </a:blip>
          <a:srcRect b="0" l="0" r="0" t="0"/>
          <a:stretch/>
        </p:blipFill>
        <p:spPr>
          <a:xfrm>
            <a:off x="1076913" y="3483900"/>
            <a:ext cx="4394597" cy="2717326"/>
          </a:xfrm>
          <a:prstGeom prst="rect">
            <a:avLst/>
          </a:prstGeom>
          <a:noFill/>
          <a:ln>
            <a:noFill/>
          </a:ln>
        </p:spPr>
      </p:pic>
      <p:pic>
        <p:nvPicPr>
          <p:cNvPr id="414" name="Google Shape;414;p29" title="Inference Time for Quantization.png"/>
          <p:cNvPicPr preferRelativeResize="0"/>
          <p:nvPr/>
        </p:nvPicPr>
        <p:blipFill rotWithShape="1">
          <a:blip r:embed="rId8">
            <a:alphaModFix/>
          </a:blip>
          <a:srcRect b="0" l="0" r="0" t="0"/>
          <a:stretch/>
        </p:blipFill>
        <p:spPr>
          <a:xfrm>
            <a:off x="7178284" y="3483900"/>
            <a:ext cx="4394597" cy="27173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18" name="Shape 418"/>
        <p:cNvGrpSpPr/>
        <p:nvPr/>
      </p:nvGrpSpPr>
      <p:grpSpPr>
        <a:xfrm>
          <a:off x="0" y="0"/>
          <a:ext cx="0" cy="0"/>
          <a:chOff x="0" y="0"/>
          <a:chExt cx="0" cy="0"/>
        </a:xfrm>
      </p:grpSpPr>
      <p:pic>
        <p:nvPicPr>
          <p:cNvPr descr="image.png" id="419" name="Google Shape;419;p30"/>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sp>
        <p:nvSpPr>
          <p:cNvPr id="420" name="Google Shape;420;p30"/>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21" name="Google Shape;421;p30"/>
          <p:cNvPicPr preferRelativeResize="0"/>
          <p:nvPr/>
        </p:nvPicPr>
        <p:blipFill rotWithShape="1">
          <a:blip r:embed="rId4">
            <a:alphaModFix/>
          </a:blip>
          <a:srcRect b="0" l="0" r="0" t="0"/>
          <a:stretch/>
        </p:blipFill>
        <p:spPr>
          <a:xfrm>
            <a:off x="619125" y="590550"/>
            <a:ext cx="242887" cy="247650"/>
          </a:xfrm>
          <a:prstGeom prst="rect">
            <a:avLst/>
          </a:prstGeom>
          <a:noFill/>
          <a:ln>
            <a:noFill/>
          </a:ln>
        </p:spPr>
      </p:pic>
      <p:sp>
        <p:nvSpPr>
          <p:cNvPr id="422" name="Google Shape;422;p30"/>
          <p:cNvSpPr txBox="1"/>
          <p:nvPr/>
        </p:nvSpPr>
        <p:spPr>
          <a:xfrm>
            <a:off x="10963275" y="6534150"/>
            <a:ext cx="609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13 of 14</a:t>
            </a:r>
            <a:endParaRPr/>
          </a:p>
        </p:txBody>
      </p:sp>
      <p:sp>
        <p:nvSpPr>
          <p:cNvPr id="423" name="Google Shape;423;p30"/>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Jetson TX2 Platform Evaluation</a:t>
            </a:r>
            <a:endParaRPr/>
          </a:p>
        </p:txBody>
      </p:sp>
      <p:sp>
        <p:nvSpPr>
          <p:cNvPr id="424" name="Google Shape;424;p30"/>
          <p:cNvSpPr txBox="1"/>
          <p:nvPr/>
        </p:nvSpPr>
        <p:spPr>
          <a:xfrm>
            <a:off x="619125" y="1638300"/>
            <a:ext cx="5310300" cy="4242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050" u="none" cap="none" strike="noStrike">
                <a:solidFill>
                  <a:srgbClr val="334155"/>
                </a:solidFill>
                <a:latin typeface="DM Sans"/>
                <a:ea typeface="DM Sans"/>
                <a:cs typeface="DM Sans"/>
                <a:sym typeface="DM Sans"/>
              </a:rPr>
              <a:t>6.</a:t>
            </a:r>
            <a:r>
              <a:rPr b="1" lang="en-US" sz="1050">
                <a:solidFill>
                  <a:srgbClr val="334155"/>
                </a:solidFill>
                <a:latin typeface="DM Sans"/>
                <a:ea typeface="DM Sans"/>
                <a:cs typeface="DM Sans"/>
                <a:sym typeface="DM Sans"/>
              </a:rPr>
              <a:t>6</a:t>
            </a:r>
            <a:r>
              <a:rPr b="1" i="0" lang="en-US" sz="1050" u="none" cap="none" strike="noStrike">
                <a:solidFill>
                  <a:srgbClr val="334155"/>
                </a:solidFill>
                <a:latin typeface="DM Sans"/>
                <a:ea typeface="DM Sans"/>
                <a:cs typeface="DM Sans"/>
                <a:sym typeface="DM Sans"/>
              </a:rPr>
              <a:t> </a:t>
            </a:r>
            <a:r>
              <a:rPr b="1" lang="en-US" sz="1050">
                <a:solidFill>
                  <a:srgbClr val="334155"/>
                </a:solidFill>
                <a:latin typeface="DM Sans"/>
                <a:ea typeface="DM Sans"/>
                <a:cs typeface="DM Sans"/>
                <a:sym typeface="DM Sans"/>
              </a:rPr>
              <a:t>Channel</a:t>
            </a:r>
            <a:r>
              <a:rPr b="1" i="0" lang="en-US" sz="1050" u="none" cap="none" strike="noStrike">
                <a:solidFill>
                  <a:srgbClr val="334155"/>
                </a:solidFill>
                <a:latin typeface="DM Sans"/>
                <a:ea typeface="DM Sans"/>
                <a:cs typeface="DM Sans"/>
                <a:sym typeface="DM Sans"/>
              </a:rPr>
              <a:t> pruning results for TX2:</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DM Sans"/>
                <a:ea typeface="DM Sans"/>
                <a:cs typeface="DM Sans"/>
                <a:sym typeface="DM Sans"/>
              </a:rPr>
              <a:t> The Results of evaluating the trained models of </a:t>
            </a:r>
            <a:r>
              <a:rPr lang="en-US" sz="1050">
                <a:solidFill>
                  <a:srgbClr val="334155"/>
                </a:solidFill>
                <a:latin typeface="DM Sans"/>
                <a:ea typeface="DM Sans"/>
                <a:cs typeface="DM Sans"/>
                <a:sym typeface="DM Sans"/>
              </a:rPr>
              <a:t>Channel</a:t>
            </a:r>
            <a:r>
              <a:rPr b="0" i="0" lang="en-US" sz="1050" u="none" cap="none" strike="noStrike">
                <a:solidFill>
                  <a:srgbClr val="334155"/>
                </a:solidFill>
                <a:latin typeface="DM Sans"/>
                <a:ea typeface="DM Sans"/>
                <a:cs typeface="DM Sans"/>
                <a:sym typeface="DM Sans"/>
              </a:rPr>
              <a:t> pruning across VGG16, ResNet50 and MobileNetV2 are shown below.</a:t>
            </a:r>
            <a:endParaRPr/>
          </a:p>
        </p:txBody>
      </p:sp>
      <p:sp>
        <p:nvSpPr>
          <p:cNvPr id="425" name="Google Shape;425;p30"/>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TX2 Evaluation</a:t>
            </a:r>
            <a:endParaRPr/>
          </a:p>
        </p:txBody>
      </p:sp>
      <p:sp>
        <p:nvSpPr>
          <p:cNvPr id="426" name="Google Shape;426;p30"/>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27" name="Google Shape;427;p30" title="Test Accuracy for Channel Pruning-2.png"/>
          <p:cNvPicPr preferRelativeResize="0"/>
          <p:nvPr/>
        </p:nvPicPr>
        <p:blipFill rotWithShape="1">
          <a:blip r:embed="rId5">
            <a:alphaModFix/>
          </a:blip>
          <a:srcRect b="0" l="0" r="0" t="0"/>
          <a:stretch/>
        </p:blipFill>
        <p:spPr>
          <a:xfrm>
            <a:off x="6951575" y="381600"/>
            <a:ext cx="4453751" cy="2753899"/>
          </a:xfrm>
          <a:prstGeom prst="rect">
            <a:avLst/>
          </a:prstGeom>
          <a:noFill/>
          <a:ln>
            <a:noFill/>
          </a:ln>
        </p:spPr>
      </p:pic>
      <p:pic>
        <p:nvPicPr>
          <p:cNvPr id="428" name="Google Shape;428;p30" title="Footprint Size for Channel Pruning.png"/>
          <p:cNvPicPr preferRelativeResize="0"/>
          <p:nvPr/>
        </p:nvPicPr>
        <p:blipFill rotWithShape="1">
          <a:blip r:embed="rId6">
            <a:alphaModFix/>
          </a:blip>
          <a:srcRect b="0" l="0" r="0" t="0"/>
          <a:stretch/>
        </p:blipFill>
        <p:spPr>
          <a:xfrm>
            <a:off x="551275" y="3361750"/>
            <a:ext cx="4240999" cy="2622350"/>
          </a:xfrm>
          <a:prstGeom prst="rect">
            <a:avLst/>
          </a:prstGeom>
          <a:noFill/>
          <a:ln>
            <a:noFill/>
          </a:ln>
        </p:spPr>
      </p:pic>
      <p:pic>
        <p:nvPicPr>
          <p:cNvPr id="429" name="Google Shape;429;p30" title="Inference Time for Channel Pruning-2.png"/>
          <p:cNvPicPr preferRelativeResize="0"/>
          <p:nvPr/>
        </p:nvPicPr>
        <p:blipFill rotWithShape="1">
          <a:blip r:embed="rId7">
            <a:alphaModFix/>
          </a:blip>
          <a:srcRect b="0" l="0" r="0" t="0"/>
          <a:stretch/>
        </p:blipFill>
        <p:spPr>
          <a:xfrm>
            <a:off x="6928950" y="3230200"/>
            <a:ext cx="4453760" cy="2753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3" name="Shape 433"/>
        <p:cNvGrpSpPr/>
        <p:nvPr/>
      </p:nvGrpSpPr>
      <p:grpSpPr>
        <a:xfrm>
          <a:off x="0" y="0"/>
          <a:ext cx="0" cy="0"/>
          <a:chOff x="0" y="0"/>
          <a:chExt cx="0" cy="0"/>
        </a:xfrm>
      </p:grpSpPr>
      <p:pic>
        <p:nvPicPr>
          <p:cNvPr descr="image.png" id="434" name="Google Shape;434;p31"/>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435" name="Google Shape;435;p31"/>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436" name="Google Shape;436;p31"/>
          <p:cNvSpPr/>
          <p:nvPr/>
        </p:nvSpPr>
        <p:spPr>
          <a:xfrm>
            <a:off x="0" y="0"/>
            <a:ext cx="12192000" cy="571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7" name="Google Shape;437;p31"/>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438" name="Google Shape;438;p31"/>
          <p:cNvSpPr txBox="1"/>
          <p:nvPr/>
        </p:nvSpPr>
        <p:spPr>
          <a:xfrm>
            <a:off x="10963275" y="6534150"/>
            <a:ext cx="6096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13 of 14</a:t>
            </a:r>
            <a:endParaRPr/>
          </a:p>
        </p:txBody>
      </p:sp>
      <p:sp>
        <p:nvSpPr>
          <p:cNvPr id="439" name="Google Shape;439;p31"/>
          <p:cNvSpPr txBox="1"/>
          <p:nvPr/>
        </p:nvSpPr>
        <p:spPr>
          <a:xfrm>
            <a:off x="619125" y="1314450"/>
            <a:ext cx="5310187"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Jetson TX2 Platform Evaluation</a:t>
            </a:r>
            <a:endParaRPr/>
          </a:p>
        </p:txBody>
      </p:sp>
      <p:sp>
        <p:nvSpPr>
          <p:cNvPr id="440" name="Google Shape;440;p31"/>
          <p:cNvSpPr txBox="1"/>
          <p:nvPr/>
        </p:nvSpPr>
        <p:spPr>
          <a:xfrm>
            <a:off x="619125" y="1638300"/>
            <a:ext cx="5310300" cy="424200"/>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050" u="none" cap="none" strike="noStrike">
                <a:solidFill>
                  <a:srgbClr val="334155"/>
                </a:solidFill>
                <a:latin typeface="DM Sans"/>
                <a:ea typeface="DM Sans"/>
                <a:cs typeface="DM Sans"/>
                <a:sym typeface="DM Sans"/>
              </a:rPr>
              <a:t>6.</a:t>
            </a:r>
            <a:r>
              <a:rPr b="1" lang="en-US" sz="1050">
                <a:solidFill>
                  <a:srgbClr val="334155"/>
                </a:solidFill>
                <a:latin typeface="DM Sans"/>
                <a:ea typeface="DM Sans"/>
                <a:cs typeface="DM Sans"/>
                <a:sym typeface="DM Sans"/>
              </a:rPr>
              <a:t>7</a:t>
            </a:r>
            <a:r>
              <a:rPr b="1" i="0" lang="en-US" sz="1050" u="none" cap="none" strike="noStrike">
                <a:solidFill>
                  <a:srgbClr val="334155"/>
                </a:solidFill>
                <a:latin typeface="DM Sans"/>
                <a:ea typeface="DM Sans"/>
                <a:cs typeface="DM Sans"/>
                <a:sym typeface="DM Sans"/>
              </a:rPr>
              <a:t> Neuron pruning results for TX2:</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DM Sans"/>
                <a:ea typeface="DM Sans"/>
                <a:cs typeface="DM Sans"/>
                <a:sym typeface="DM Sans"/>
              </a:rPr>
              <a:t> The Results of evaluating the trained models of neuron pruning across VGG16, ResNet50 and MobileNetV2 are shown below.</a:t>
            </a:r>
            <a:endParaRPr/>
          </a:p>
        </p:txBody>
      </p:sp>
      <p:sp>
        <p:nvSpPr>
          <p:cNvPr id="441" name="Google Shape;441;p31"/>
          <p:cNvSpPr txBox="1"/>
          <p:nvPr/>
        </p:nvSpPr>
        <p:spPr>
          <a:xfrm>
            <a:off x="976312" y="485775"/>
            <a:ext cx="11126390" cy="4762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TX2 Evaluation</a:t>
            </a:r>
            <a:endParaRPr/>
          </a:p>
        </p:txBody>
      </p:sp>
      <p:sp>
        <p:nvSpPr>
          <p:cNvPr id="442" name="Google Shape;442;p31"/>
          <p:cNvSpPr/>
          <p:nvPr/>
        </p:nvSpPr>
        <p:spPr>
          <a:xfrm>
            <a:off x="619125" y="1057275"/>
            <a:ext cx="109537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43" name="Google Shape;443;p31" title="Test Accuracy for Neuron Pruning (1).png"/>
          <p:cNvPicPr preferRelativeResize="0"/>
          <p:nvPr/>
        </p:nvPicPr>
        <p:blipFill>
          <a:blip r:embed="rId6">
            <a:alphaModFix/>
          </a:blip>
          <a:stretch>
            <a:fillRect/>
          </a:stretch>
        </p:blipFill>
        <p:spPr>
          <a:xfrm>
            <a:off x="6951575" y="381600"/>
            <a:ext cx="4453751" cy="2753899"/>
          </a:xfrm>
          <a:prstGeom prst="rect">
            <a:avLst/>
          </a:prstGeom>
          <a:noFill/>
          <a:ln>
            <a:noFill/>
          </a:ln>
        </p:spPr>
      </p:pic>
      <p:pic>
        <p:nvPicPr>
          <p:cNvPr id="444" name="Google Shape;444;p31" title="Footprint Sizefor Neuron Pruning (1).png"/>
          <p:cNvPicPr preferRelativeResize="0"/>
          <p:nvPr/>
        </p:nvPicPr>
        <p:blipFill>
          <a:blip r:embed="rId7">
            <a:alphaModFix/>
          </a:blip>
          <a:stretch>
            <a:fillRect/>
          </a:stretch>
        </p:blipFill>
        <p:spPr>
          <a:xfrm>
            <a:off x="551275" y="3361750"/>
            <a:ext cx="4240999" cy="2622350"/>
          </a:xfrm>
          <a:prstGeom prst="rect">
            <a:avLst/>
          </a:prstGeom>
          <a:noFill/>
          <a:ln>
            <a:noFill/>
          </a:ln>
        </p:spPr>
      </p:pic>
      <p:pic>
        <p:nvPicPr>
          <p:cNvPr id="445" name="Google Shape;445;p31" title="Inference Time for Neuron Pruning (1).png"/>
          <p:cNvPicPr preferRelativeResize="0"/>
          <p:nvPr/>
        </p:nvPicPr>
        <p:blipFill>
          <a:blip r:embed="rId8">
            <a:alphaModFix/>
          </a:blip>
          <a:stretch>
            <a:fillRect/>
          </a:stretch>
        </p:blipFill>
        <p:spPr>
          <a:xfrm>
            <a:off x="6928950" y="3230200"/>
            <a:ext cx="4453760" cy="2753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9" name="Shape 449"/>
        <p:cNvGrpSpPr/>
        <p:nvPr/>
      </p:nvGrpSpPr>
      <p:grpSpPr>
        <a:xfrm>
          <a:off x="0" y="0"/>
          <a:ext cx="0" cy="0"/>
          <a:chOff x="0" y="0"/>
          <a:chExt cx="0" cy="0"/>
        </a:xfrm>
      </p:grpSpPr>
      <p:pic>
        <p:nvPicPr>
          <p:cNvPr descr="image.png" id="450" name="Google Shape;450;p32"/>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451" name="Google Shape;451;p32"/>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452" name="Google Shape;452;p32"/>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53" name="Google Shape;453;p32"/>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454" name="Google Shape;454;p32"/>
          <p:cNvSpPr txBox="1"/>
          <p:nvPr/>
        </p:nvSpPr>
        <p:spPr>
          <a:xfrm>
            <a:off x="10963275" y="6534150"/>
            <a:ext cx="609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13 of 14</a:t>
            </a:r>
            <a:endParaRPr/>
          </a:p>
        </p:txBody>
      </p:sp>
      <p:sp>
        <p:nvSpPr>
          <p:cNvPr id="455" name="Google Shape;455;p32"/>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Jetson TX2 Platform Evaluation</a:t>
            </a:r>
            <a:endParaRPr/>
          </a:p>
        </p:txBody>
      </p:sp>
      <p:sp>
        <p:nvSpPr>
          <p:cNvPr id="456" name="Google Shape;456;p32"/>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6.8 Layer pruning results for TX2:</a:t>
            </a:r>
            <a:endParaRPr b="1"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300">
                <a:solidFill>
                  <a:schemeClr val="dk1"/>
                </a:solidFill>
              </a:rPr>
              <a:t>The Results of evaluating the trained models of layer pruning across VGG16, ResNet50 and MobileNetV2 are shown below,</a:t>
            </a:r>
            <a:endParaRPr sz="1300">
              <a:solidFill>
                <a:schemeClr val="dk1"/>
              </a:solidFill>
            </a:endParaRPr>
          </a:p>
        </p:txBody>
      </p:sp>
      <p:sp>
        <p:nvSpPr>
          <p:cNvPr id="457" name="Google Shape;457;p32"/>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TX2 Evaluation</a:t>
            </a:r>
            <a:endParaRPr/>
          </a:p>
        </p:txBody>
      </p:sp>
      <p:sp>
        <p:nvSpPr>
          <p:cNvPr id="458" name="Google Shape;458;p32"/>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59" name="Google Shape;459;p32" title="Test Accuracy for Layer Pruning (1).png"/>
          <p:cNvPicPr preferRelativeResize="0"/>
          <p:nvPr/>
        </p:nvPicPr>
        <p:blipFill rotWithShape="1">
          <a:blip r:embed="rId6">
            <a:alphaModFix/>
          </a:blip>
          <a:srcRect b="0" l="0" r="0" t="0"/>
          <a:stretch/>
        </p:blipFill>
        <p:spPr>
          <a:xfrm>
            <a:off x="6951575" y="381600"/>
            <a:ext cx="4453751" cy="2753899"/>
          </a:xfrm>
          <a:prstGeom prst="rect">
            <a:avLst/>
          </a:prstGeom>
          <a:noFill/>
          <a:ln>
            <a:noFill/>
          </a:ln>
        </p:spPr>
      </p:pic>
      <p:pic>
        <p:nvPicPr>
          <p:cNvPr id="460" name="Google Shape;460;p32" title="Footprint Size for Layer Pruning (1).png"/>
          <p:cNvPicPr preferRelativeResize="0"/>
          <p:nvPr/>
        </p:nvPicPr>
        <p:blipFill rotWithShape="1">
          <a:blip r:embed="rId7">
            <a:alphaModFix/>
          </a:blip>
          <a:srcRect b="0" l="0" r="0" t="0"/>
          <a:stretch/>
        </p:blipFill>
        <p:spPr>
          <a:xfrm>
            <a:off x="551275" y="3361750"/>
            <a:ext cx="4240999" cy="2622350"/>
          </a:xfrm>
          <a:prstGeom prst="rect">
            <a:avLst/>
          </a:prstGeom>
          <a:noFill/>
          <a:ln>
            <a:noFill/>
          </a:ln>
        </p:spPr>
      </p:pic>
      <p:pic>
        <p:nvPicPr>
          <p:cNvPr id="461" name="Google Shape;461;p32" title="Inference Time for Layer Pruning (1).png"/>
          <p:cNvPicPr preferRelativeResize="0"/>
          <p:nvPr/>
        </p:nvPicPr>
        <p:blipFill rotWithShape="1">
          <a:blip r:embed="rId8">
            <a:alphaModFix/>
          </a:blip>
          <a:srcRect b="0" l="0" r="0" t="0"/>
          <a:stretch/>
        </p:blipFill>
        <p:spPr>
          <a:xfrm>
            <a:off x="6928950" y="3230200"/>
            <a:ext cx="4453760" cy="2753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5" name="Shape 465"/>
        <p:cNvGrpSpPr/>
        <p:nvPr/>
      </p:nvGrpSpPr>
      <p:grpSpPr>
        <a:xfrm>
          <a:off x="0" y="0"/>
          <a:ext cx="0" cy="0"/>
          <a:chOff x="0" y="0"/>
          <a:chExt cx="0" cy="0"/>
        </a:xfrm>
      </p:grpSpPr>
      <p:pic>
        <p:nvPicPr>
          <p:cNvPr descr="image.png" id="466" name="Google Shape;466;p33"/>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467" name="Google Shape;467;p33"/>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468" name="Google Shape;468;p33"/>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69" name="Google Shape;469;p33"/>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470" name="Google Shape;470;p33"/>
          <p:cNvSpPr txBox="1"/>
          <p:nvPr/>
        </p:nvSpPr>
        <p:spPr>
          <a:xfrm>
            <a:off x="10963275" y="6534150"/>
            <a:ext cx="609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13 of 14</a:t>
            </a:r>
            <a:endParaRPr/>
          </a:p>
        </p:txBody>
      </p:sp>
      <p:sp>
        <p:nvSpPr>
          <p:cNvPr id="471" name="Google Shape;471;p33"/>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Jetson TX2 Platform Evaluation</a:t>
            </a:r>
            <a:endParaRPr/>
          </a:p>
        </p:txBody>
      </p:sp>
      <p:sp>
        <p:nvSpPr>
          <p:cNvPr id="472" name="Google Shape;472;p33"/>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6.9 Dropout results for TX2:</a:t>
            </a:r>
            <a:endParaRPr b="1"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300">
                <a:solidFill>
                  <a:schemeClr val="dk1"/>
                </a:solidFill>
              </a:rPr>
              <a:t>The Results of evaluating the trained models of dropouts across VGG16, ResNet50 and MobileNetV2 are shown below,</a:t>
            </a:r>
            <a:endParaRPr sz="1300">
              <a:solidFill>
                <a:schemeClr val="dk1"/>
              </a:solidFill>
            </a:endParaRPr>
          </a:p>
        </p:txBody>
      </p:sp>
      <p:sp>
        <p:nvSpPr>
          <p:cNvPr id="473" name="Google Shape;473;p33"/>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TX2 Evaluation</a:t>
            </a:r>
            <a:endParaRPr/>
          </a:p>
        </p:txBody>
      </p:sp>
      <p:sp>
        <p:nvSpPr>
          <p:cNvPr id="474" name="Google Shape;474;p33"/>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75" name="Google Shape;475;p33" title="Test Accuracy for Dropout-2.png"/>
          <p:cNvPicPr preferRelativeResize="0"/>
          <p:nvPr/>
        </p:nvPicPr>
        <p:blipFill rotWithShape="1">
          <a:blip r:embed="rId6">
            <a:alphaModFix/>
          </a:blip>
          <a:srcRect b="0" l="0" r="0" t="0"/>
          <a:stretch/>
        </p:blipFill>
        <p:spPr>
          <a:xfrm>
            <a:off x="6913475" y="3382600"/>
            <a:ext cx="4453751" cy="2753899"/>
          </a:xfrm>
          <a:prstGeom prst="rect">
            <a:avLst/>
          </a:prstGeom>
          <a:noFill/>
          <a:ln>
            <a:noFill/>
          </a:ln>
        </p:spPr>
      </p:pic>
      <p:pic>
        <p:nvPicPr>
          <p:cNvPr id="476" name="Google Shape;476;p33" title="Inference Time for Dropout-2.png"/>
          <p:cNvPicPr preferRelativeResize="0"/>
          <p:nvPr/>
        </p:nvPicPr>
        <p:blipFill rotWithShape="1">
          <a:blip r:embed="rId7">
            <a:alphaModFix/>
          </a:blip>
          <a:srcRect b="0" l="0" r="0" t="0"/>
          <a:stretch/>
        </p:blipFill>
        <p:spPr>
          <a:xfrm>
            <a:off x="619125" y="3382600"/>
            <a:ext cx="4453760" cy="2753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80" name="Shape 480"/>
        <p:cNvGrpSpPr/>
        <p:nvPr/>
      </p:nvGrpSpPr>
      <p:grpSpPr>
        <a:xfrm>
          <a:off x="0" y="0"/>
          <a:ext cx="0" cy="0"/>
          <a:chOff x="0" y="0"/>
          <a:chExt cx="0" cy="0"/>
        </a:xfrm>
      </p:grpSpPr>
      <p:pic>
        <p:nvPicPr>
          <p:cNvPr descr="image.png" id="481" name="Google Shape;481;p34"/>
          <p:cNvPicPr preferRelativeResize="0"/>
          <p:nvPr/>
        </p:nvPicPr>
        <p:blipFill rotWithShape="1">
          <a:blip r:embed="rId3">
            <a:alphaModFix/>
          </a:blip>
          <a:srcRect b="0" l="0" r="0" t="0"/>
          <a:stretch/>
        </p:blipFill>
        <p:spPr>
          <a:xfrm>
            <a:off x="-762000" y="4762500"/>
            <a:ext cx="2857500" cy="2857500"/>
          </a:xfrm>
          <a:prstGeom prst="rect">
            <a:avLst/>
          </a:prstGeom>
          <a:noFill/>
          <a:ln>
            <a:noFill/>
          </a:ln>
        </p:spPr>
      </p:pic>
      <p:pic>
        <p:nvPicPr>
          <p:cNvPr descr="image.png" id="482" name="Google Shape;482;p34"/>
          <p:cNvPicPr preferRelativeResize="0"/>
          <p:nvPr/>
        </p:nvPicPr>
        <p:blipFill rotWithShape="1">
          <a:blip r:embed="rId4">
            <a:alphaModFix/>
          </a:blip>
          <a:srcRect b="0" l="0" r="0" t="0"/>
          <a:stretch/>
        </p:blipFill>
        <p:spPr>
          <a:xfrm>
            <a:off x="619125" y="6429375"/>
            <a:ext cx="10953750" cy="238125"/>
          </a:xfrm>
          <a:prstGeom prst="rect">
            <a:avLst/>
          </a:prstGeom>
          <a:noFill/>
          <a:ln>
            <a:noFill/>
          </a:ln>
        </p:spPr>
      </p:pic>
      <p:sp>
        <p:nvSpPr>
          <p:cNvPr id="483" name="Google Shape;483;p34"/>
          <p:cNvSpPr/>
          <p:nvPr/>
        </p:nvSpPr>
        <p:spPr>
          <a:xfrm>
            <a:off x="0" y="0"/>
            <a:ext cx="12192000" cy="573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84" name="Google Shape;484;p34"/>
          <p:cNvPicPr preferRelativeResize="0"/>
          <p:nvPr/>
        </p:nvPicPr>
        <p:blipFill rotWithShape="1">
          <a:blip r:embed="rId5">
            <a:alphaModFix/>
          </a:blip>
          <a:srcRect b="0" l="0" r="0" t="0"/>
          <a:stretch/>
        </p:blipFill>
        <p:spPr>
          <a:xfrm>
            <a:off x="619125" y="590550"/>
            <a:ext cx="242887" cy="247650"/>
          </a:xfrm>
          <a:prstGeom prst="rect">
            <a:avLst/>
          </a:prstGeom>
          <a:noFill/>
          <a:ln>
            <a:noFill/>
          </a:ln>
        </p:spPr>
      </p:pic>
      <p:sp>
        <p:nvSpPr>
          <p:cNvPr id="485" name="Google Shape;485;p34"/>
          <p:cNvSpPr txBox="1"/>
          <p:nvPr/>
        </p:nvSpPr>
        <p:spPr>
          <a:xfrm>
            <a:off x="10963275" y="6534150"/>
            <a:ext cx="609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DM Sans"/>
                <a:ea typeface="DM Sans"/>
                <a:cs typeface="DM Sans"/>
                <a:sym typeface="DM Sans"/>
              </a:rPr>
              <a:t>Slide 13 of 14</a:t>
            </a:r>
            <a:endParaRPr/>
          </a:p>
        </p:txBody>
      </p:sp>
      <p:sp>
        <p:nvSpPr>
          <p:cNvPr id="486" name="Google Shape;486;p34"/>
          <p:cNvSpPr txBox="1"/>
          <p:nvPr/>
        </p:nvSpPr>
        <p:spPr>
          <a:xfrm>
            <a:off x="619125" y="1314450"/>
            <a:ext cx="53103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284C7"/>
                </a:solidFill>
                <a:latin typeface="DM Sans SemiBold"/>
                <a:ea typeface="DM Sans SemiBold"/>
                <a:cs typeface="DM Sans SemiBold"/>
                <a:sym typeface="DM Sans SemiBold"/>
              </a:rPr>
              <a:t>Jetson TX2 Platform Evaluation</a:t>
            </a:r>
            <a:endParaRPr/>
          </a:p>
        </p:txBody>
      </p:sp>
      <p:sp>
        <p:nvSpPr>
          <p:cNvPr id="487" name="Google Shape;487;p34"/>
          <p:cNvSpPr txBox="1"/>
          <p:nvPr/>
        </p:nvSpPr>
        <p:spPr>
          <a:xfrm>
            <a:off x="619125" y="1638300"/>
            <a:ext cx="5310300" cy="814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6.10 Quantization results for TX2:</a:t>
            </a:r>
            <a:endParaRPr b="1"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300">
                <a:solidFill>
                  <a:schemeClr val="dk1"/>
                </a:solidFill>
              </a:rPr>
              <a:t>The Results of evaluating the trained models of quantization across VGG16, ResNet50 and MobileNetV2 are shown below,</a:t>
            </a:r>
            <a:endParaRPr b="1" sz="1050">
              <a:solidFill>
                <a:srgbClr val="334155"/>
              </a:solidFill>
              <a:latin typeface="DM Sans"/>
              <a:ea typeface="DM Sans"/>
              <a:cs typeface="DM Sans"/>
              <a:sym typeface="DM Sans"/>
            </a:endParaRPr>
          </a:p>
        </p:txBody>
      </p:sp>
      <p:sp>
        <p:nvSpPr>
          <p:cNvPr id="488" name="Google Shape;488;p34"/>
          <p:cNvSpPr txBox="1"/>
          <p:nvPr/>
        </p:nvSpPr>
        <p:spPr>
          <a:xfrm>
            <a:off x="976312" y="485775"/>
            <a:ext cx="111264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oppins"/>
                <a:ea typeface="Poppins"/>
                <a:cs typeface="Poppins"/>
                <a:sym typeface="Poppins"/>
              </a:rPr>
              <a:t>Chapter 6: TX2 Evaluation</a:t>
            </a:r>
            <a:endParaRPr/>
          </a:p>
        </p:txBody>
      </p:sp>
      <p:sp>
        <p:nvSpPr>
          <p:cNvPr id="489" name="Google Shape;489;p34"/>
          <p:cNvSpPr/>
          <p:nvPr/>
        </p:nvSpPr>
        <p:spPr>
          <a:xfrm>
            <a:off x="619125" y="1057275"/>
            <a:ext cx="10953900" cy="192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90" name="Google Shape;490;p34" title="Test Accuracy  for Quantization (1).png"/>
          <p:cNvPicPr preferRelativeResize="0"/>
          <p:nvPr/>
        </p:nvPicPr>
        <p:blipFill rotWithShape="1">
          <a:blip r:embed="rId6">
            <a:alphaModFix/>
          </a:blip>
          <a:srcRect b="0" l="0" r="0" t="0"/>
          <a:stretch/>
        </p:blipFill>
        <p:spPr>
          <a:xfrm>
            <a:off x="6951575" y="381600"/>
            <a:ext cx="4453751" cy="2753899"/>
          </a:xfrm>
          <a:prstGeom prst="rect">
            <a:avLst/>
          </a:prstGeom>
          <a:noFill/>
          <a:ln>
            <a:noFill/>
          </a:ln>
        </p:spPr>
      </p:pic>
      <p:pic>
        <p:nvPicPr>
          <p:cNvPr id="491" name="Google Shape;491;p34" title="Footprint Size for Quantization (1).png"/>
          <p:cNvPicPr preferRelativeResize="0"/>
          <p:nvPr/>
        </p:nvPicPr>
        <p:blipFill rotWithShape="1">
          <a:blip r:embed="rId7">
            <a:alphaModFix/>
          </a:blip>
          <a:srcRect b="0" l="0" r="0" t="0"/>
          <a:stretch/>
        </p:blipFill>
        <p:spPr>
          <a:xfrm>
            <a:off x="551275" y="3361750"/>
            <a:ext cx="4240999" cy="2622350"/>
          </a:xfrm>
          <a:prstGeom prst="rect">
            <a:avLst/>
          </a:prstGeom>
          <a:noFill/>
          <a:ln>
            <a:noFill/>
          </a:ln>
        </p:spPr>
      </p:pic>
      <p:pic>
        <p:nvPicPr>
          <p:cNvPr id="492" name="Google Shape;492;p34" title="Inference Time for Quantization (1).png"/>
          <p:cNvPicPr preferRelativeResize="0"/>
          <p:nvPr/>
        </p:nvPicPr>
        <p:blipFill rotWithShape="1">
          <a:blip r:embed="rId8">
            <a:alphaModFix/>
          </a:blip>
          <a:srcRect b="0" l="0" r="0" t="0"/>
          <a:stretch/>
        </p:blipFill>
        <p:spPr>
          <a:xfrm>
            <a:off x="6928950" y="3230200"/>
            <a:ext cx="4453760" cy="2753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image.png" id="497" name="Google Shape;497;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98" name="Google Shape;498;p35"/>
          <p:cNvPicPr preferRelativeResize="0"/>
          <p:nvPr/>
        </p:nvPicPr>
        <p:blipFill rotWithShape="1">
          <a:blip r:embed="rId4">
            <a:alphaModFix/>
          </a:blip>
          <a:srcRect b="0" l="0" r="0" t="0"/>
          <a:stretch/>
        </p:blipFill>
        <p:spPr>
          <a:xfrm>
            <a:off x="9810750" y="-419100"/>
            <a:ext cx="2857500" cy="2857500"/>
          </a:xfrm>
          <a:prstGeom prst="rect">
            <a:avLst/>
          </a:prstGeom>
          <a:noFill/>
          <a:ln>
            <a:noFill/>
          </a:ln>
        </p:spPr>
      </p:pic>
      <p:pic>
        <p:nvPicPr>
          <p:cNvPr descr="image.png" id="499" name="Google Shape;499;p35"/>
          <p:cNvPicPr preferRelativeResize="0"/>
          <p:nvPr/>
        </p:nvPicPr>
        <p:blipFill rotWithShape="1">
          <a:blip r:embed="rId5">
            <a:alphaModFix/>
          </a:blip>
          <a:srcRect b="0" l="0" r="0" t="0"/>
          <a:stretch/>
        </p:blipFill>
        <p:spPr>
          <a:xfrm>
            <a:off x="-762000" y="4762500"/>
            <a:ext cx="2857500" cy="2857500"/>
          </a:xfrm>
          <a:prstGeom prst="rect">
            <a:avLst/>
          </a:prstGeom>
          <a:noFill/>
          <a:ln>
            <a:noFill/>
          </a:ln>
        </p:spPr>
      </p:pic>
      <p:pic>
        <p:nvPicPr>
          <p:cNvPr descr="image.png" id="500" name="Google Shape;500;p35"/>
          <p:cNvPicPr preferRelativeResize="0"/>
          <p:nvPr/>
        </p:nvPicPr>
        <p:blipFill rotWithShape="1">
          <a:blip r:embed="rId6">
            <a:alphaModFix/>
          </a:blip>
          <a:srcRect b="0" l="0" r="0" t="0"/>
          <a:stretch/>
        </p:blipFill>
        <p:spPr>
          <a:xfrm>
            <a:off x="762000" y="6429375"/>
            <a:ext cx="10668000" cy="238125"/>
          </a:xfrm>
          <a:prstGeom prst="rect">
            <a:avLst/>
          </a:prstGeom>
          <a:noFill/>
          <a:ln>
            <a:noFill/>
          </a:ln>
        </p:spPr>
      </p:pic>
      <p:sp>
        <p:nvSpPr>
          <p:cNvPr id="501" name="Google Shape;501;p35"/>
          <p:cNvSpPr/>
          <p:nvPr/>
        </p:nvSpPr>
        <p:spPr>
          <a:xfrm>
            <a:off x="0" y="0"/>
            <a:ext cx="121920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35"/>
          <p:cNvSpPr txBox="1"/>
          <p:nvPr/>
        </p:nvSpPr>
        <p:spPr>
          <a:xfrm>
            <a:off x="3850644" y="527100"/>
            <a:ext cx="4490700" cy="965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850" u="none" cap="none" strike="noStrike">
                <a:solidFill>
                  <a:schemeClr val="lt2"/>
                </a:solidFill>
                <a:latin typeface="Poppins SemiBold"/>
                <a:ea typeface="Poppins SemiBold"/>
                <a:cs typeface="Poppins SemiBold"/>
                <a:sym typeface="Poppins SemiBold"/>
              </a:rPr>
              <a:t>Chapter 7:</a:t>
            </a:r>
            <a:endParaRPr b="1" sz="2850">
              <a:solidFill>
                <a:schemeClr val="lt2"/>
              </a:solidFill>
              <a:latin typeface="Poppins SemiBold"/>
              <a:ea typeface="Poppins SemiBold"/>
              <a:cs typeface="Poppins SemiBold"/>
              <a:sym typeface="Poppins SemiBold"/>
            </a:endParaRPr>
          </a:p>
          <a:p>
            <a:pPr indent="0" lvl="0" marL="0" marR="0" rtl="0" algn="ctr">
              <a:lnSpc>
                <a:spcPct val="120000"/>
              </a:lnSpc>
              <a:spcBef>
                <a:spcPts val="0"/>
              </a:spcBef>
              <a:spcAft>
                <a:spcPts val="0"/>
              </a:spcAft>
              <a:buNone/>
            </a:pPr>
            <a:r>
              <a:rPr b="1" i="0" lang="en-US" sz="2850" u="none" cap="none" strike="noStrike">
                <a:solidFill>
                  <a:schemeClr val="lt2"/>
                </a:solidFill>
                <a:latin typeface="Poppins SemiBold"/>
                <a:ea typeface="Poppins SemiBold"/>
                <a:cs typeface="Poppins SemiBold"/>
                <a:sym typeface="Poppins SemiBold"/>
              </a:rPr>
              <a:t>Conclusions</a:t>
            </a:r>
            <a:endParaRPr>
              <a:solidFill>
                <a:schemeClr val="lt2"/>
              </a:solidFill>
            </a:endParaRPr>
          </a:p>
        </p:txBody>
      </p:sp>
      <p:sp>
        <p:nvSpPr>
          <p:cNvPr id="503" name="Google Shape;503;p35"/>
          <p:cNvSpPr txBox="1"/>
          <p:nvPr/>
        </p:nvSpPr>
        <p:spPr>
          <a:xfrm>
            <a:off x="1095375" y="2262633"/>
            <a:ext cx="10001400" cy="9522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CBD5E1"/>
                </a:solidFill>
                <a:latin typeface="DM Sans"/>
                <a:ea typeface="DM Sans"/>
                <a:cs typeface="DM Sans"/>
                <a:sym typeface="DM Sans"/>
              </a:rPr>
              <a:t>This project successfully developed and optimized three deep learning architectures—VGG16, ResNet50, and MobileNetV2—for binary image classification on both a standard benchmark dataset (Cats vs Dogs) and a proprietary leather defect dataset. Based on an extensive literature review, optimization techniques including channel pruning, layer pruning, neuron pruning, dropout, and post-training quantization (INT16 and INT8) were implemented and evaluated.</a:t>
            </a:r>
            <a:endParaRPr/>
          </a:p>
        </p:txBody>
      </p:sp>
      <p:sp>
        <p:nvSpPr>
          <p:cNvPr id="504" name="Google Shape;504;p35"/>
          <p:cNvSpPr txBox="1"/>
          <p:nvPr/>
        </p:nvSpPr>
        <p:spPr>
          <a:xfrm>
            <a:off x="1095375" y="3710424"/>
            <a:ext cx="10001400" cy="12117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CBD5E1"/>
                </a:solidFill>
                <a:latin typeface="DM Sans"/>
                <a:ea typeface="DM Sans"/>
                <a:cs typeface="DM Sans"/>
                <a:sym typeface="DM Sans"/>
              </a:rPr>
              <a:t>An automated training and optimization pipeline was developed to efficiently generate, fine-tune, and evaluate multiple optimized models. The optimized models were deployed and tested on the NVIDIA Jetson TX2 embedded platform, where their inference performance and classification accuracy were analyzed. The study demonstrates that model optimization techniques can significantly reduce computational requirements while maintaining competitive classification performance, making deep learning models more suitable for deployment on resource-constrained embedded AI systems.</a:t>
            </a:r>
            <a:endParaRPr/>
          </a:p>
        </p:txBody>
      </p:sp>
      <p:sp>
        <p:nvSpPr>
          <p:cNvPr id="505" name="Google Shape;505;p35"/>
          <p:cNvSpPr txBox="1"/>
          <p:nvPr/>
        </p:nvSpPr>
        <p:spPr>
          <a:xfrm>
            <a:off x="10820400" y="6534150"/>
            <a:ext cx="6096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DM Sans"/>
                <a:ea typeface="DM Sans"/>
                <a:cs typeface="DM Sans"/>
                <a:sym typeface="DM Sans"/>
              </a:rPr>
              <a:t>Slide 14 of 14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descr="image.png" id="510" name="Google Shape;510;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11" name="Google Shape;511;p36"/>
          <p:cNvPicPr preferRelativeResize="0"/>
          <p:nvPr/>
        </p:nvPicPr>
        <p:blipFill rotWithShape="1">
          <a:blip r:embed="rId4">
            <a:alphaModFix/>
          </a:blip>
          <a:srcRect b="0" l="0" r="0" t="0"/>
          <a:stretch/>
        </p:blipFill>
        <p:spPr>
          <a:xfrm>
            <a:off x="9810750" y="-419100"/>
            <a:ext cx="2857500" cy="2857500"/>
          </a:xfrm>
          <a:prstGeom prst="rect">
            <a:avLst/>
          </a:prstGeom>
          <a:noFill/>
          <a:ln>
            <a:noFill/>
          </a:ln>
        </p:spPr>
      </p:pic>
      <p:pic>
        <p:nvPicPr>
          <p:cNvPr descr="image.png" id="512" name="Google Shape;512;p36"/>
          <p:cNvPicPr preferRelativeResize="0"/>
          <p:nvPr/>
        </p:nvPicPr>
        <p:blipFill rotWithShape="1">
          <a:blip r:embed="rId5">
            <a:alphaModFix/>
          </a:blip>
          <a:srcRect b="0" l="0" r="0" t="0"/>
          <a:stretch/>
        </p:blipFill>
        <p:spPr>
          <a:xfrm>
            <a:off x="-762000" y="4762500"/>
            <a:ext cx="2857500" cy="2857500"/>
          </a:xfrm>
          <a:prstGeom prst="rect">
            <a:avLst/>
          </a:prstGeom>
          <a:noFill/>
          <a:ln>
            <a:noFill/>
          </a:ln>
        </p:spPr>
      </p:pic>
      <p:pic>
        <p:nvPicPr>
          <p:cNvPr descr="image.png" id="513" name="Google Shape;513;p36"/>
          <p:cNvPicPr preferRelativeResize="0"/>
          <p:nvPr/>
        </p:nvPicPr>
        <p:blipFill rotWithShape="1">
          <a:blip r:embed="rId6">
            <a:alphaModFix/>
          </a:blip>
          <a:srcRect b="0" l="0" r="0" t="0"/>
          <a:stretch/>
        </p:blipFill>
        <p:spPr>
          <a:xfrm>
            <a:off x="762000" y="6429375"/>
            <a:ext cx="10668000" cy="238125"/>
          </a:xfrm>
          <a:prstGeom prst="rect">
            <a:avLst/>
          </a:prstGeom>
          <a:noFill/>
          <a:ln>
            <a:noFill/>
          </a:ln>
        </p:spPr>
      </p:pic>
      <p:sp>
        <p:nvSpPr>
          <p:cNvPr id="514" name="Google Shape;514;p36"/>
          <p:cNvSpPr/>
          <p:nvPr/>
        </p:nvSpPr>
        <p:spPr>
          <a:xfrm>
            <a:off x="0" y="0"/>
            <a:ext cx="12192000" cy="573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36"/>
          <p:cNvSpPr txBox="1"/>
          <p:nvPr/>
        </p:nvSpPr>
        <p:spPr>
          <a:xfrm>
            <a:off x="3850719" y="527100"/>
            <a:ext cx="4490700" cy="965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850" u="none" cap="none" strike="noStrike">
                <a:solidFill>
                  <a:schemeClr val="lt2"/>
                </a:solidFill>
                <a:latin typeface="Poppins SemiBold"/>
                <a:ea typeface="Poppins SemiBold"/>
                <a:cs typeface="Poppins SemiBold"/>
                <a:sym typeface="Poppins SemiBold"/>
              </a:rPr>
              <a:t>Chapter </a:t>
            </a:r>
            <a:r>
              <a:rPr b="1" lang="en-US" sz="2850">
                <a:solidFill>
                  <a:schemeClr val="lt2"/>
                </a:solidFill>
                <a:latin typeface="Poppins SemiBold"/>
                <a:ea typeface="Poppins SemiBold"/>
                <a:cs typeface="Poppins SemiBold"/>
                <a:sym typeface="Poppins SemiBold"/>
              </a:rPr>
              <a:t>8</a:t>
            </a:r>
            <a:r>
              <a:rPr b="1" i="0" lang="en-US" sz="2850" u="none" cap="none" strike="noStrike">
                <a:solidFill>
                  <a:schemeClr val="lt2"/>
                </a:solidFill>
                <a:latin typeface="Poppins SemiBold"/>
                <a:ea typeface="Poppins SemiBold"/>
                <a:cs typeface="Poppins SemiBold"/>
                <a:sym typeface="Poppins SemiBold"/>
              </a:rPr>
              <a:t>: </a:t>
            </a:r>
            <a:r>
              <a:rPr b="1" lang="en-US" sz="2850">
                <a:solidFill>
                  <a:schemeClr val="lt2"/>
                </a:solidFill>
                <a:latin typeface="Poppins SemiBold"/>
                <a:ea typeface="Poppins SemiBold"/>
                <a:cs typeface="Poppins SemiBold"/>
                <a:sym typeface="Poppins SemiBold"/>
              </a:rPr>
              <a:t>Recommendations</a:t>
            </a:r>
            <a:endParaRPr>
              <a:solidFill>
                <a:schemeClr val="lt2"/>
              </a:solidFill>
            </a:endParaRPr>
          </a:p>
        </p:txBody>
      </p:sp>
      <p:sp>
        <p:nvSpPr>
          <p:cNvPr id="516" name="Google Shape;516;p36"/>
          <p:cNvSpPr txBox="1"/>
          <p:nvPr/>
        </p:nvSpPr>
        <p:spPr>
          <a:xfrm>
            <a:off x="1095375" y="2438408"/>
            <a:ext cx="10001400" cy="29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lt1"/>
                </a:solidFill>
              </a:rPr>
              <a:t>Based on the experimental findings, the following engineering guidelines are recommended for deploying lightweight deep learning models on resource-constrained platforms:</a:t>
            </a:r>
            <a:endParaRPr sz="1300">
              <a:solidFill>
                <a:schemeClr val="lt1"/>
              </a:solidFill>
            </a:endParaRPr>
          </a:p>
          <a:p>
            <a:pPr indent="-311150" lvl="0" marL="457200" rtl="0" algn="l">
              <a:lnSpc>
                <a:spcPct val="150000"/>
              </a:lnSpc>
              <a:spcBef>
                <a:spcPts val="1200"/>
              </a:spcBef>
              <a:spcAft>
                <a:spcPts val="0"/>
              </a:spcAft>
              <a:buClr>
                <a:schemeClr val="lt1"/>
              </a:buClr>
              <a:buSzPts val="1300"/>
              <a:buAutoNum type="arabicPeriod"/>
            </a:pPr>
            <a:r>
              <a:rPr b="1" lang="en-US" sz="1300">
                <a:solidFill>
                  <a:schemeClr val="lt1"/>
                </a:solidFill>
              </a:rPr>
              <a:t>Prioritize Structured Methods:</a:t>
            </a:r>
            <a:r>
              <a:rPr lang="en-US" sz="1300">
                <a:solidFill>
                  <a:schemeClr val="lt1"/>
                </a:solidFill>
              </a:rPr>
              <a:t> Use structured channel pruning over unstructured variants to ensure direct compatibility with standard execution hardware without requiring specialized sparse execution libraries.</a:t>
            </a:r>
            <a:endParaRPr sz="1300">
              <a:solidFill>
                <a:schemeClr val="lt1"/>
              </a:solidFill>
            </a:endParaRPr>
          </a:p>
          <a:p>
            <a:pPr indent="-311150" lvl="0" marL="457200" rtl="0" algn="l">
              <a:lnSpc>
                <a:spcPct val="150000"/>
              </a:lnSpc>
              <a:spcBef>
                <a:spcPts val="0"/>
              </a:spcBef>
              <a:spcAft>
                <a:spcPts val="0"/>
              </a:spcAft>
              <a:buClr>
                <a:schemeClr val="lt1"/>
              </a:buClr>
              <a:buSzPts val="1300"/>
              <a:buAutoNum type="arabicPeriod"/>
            </a:pPr>
            <a:r>
              <a:rPr b="1" lang="en-US" sz="1300">
                <a:solidFill>
                  <a:schemeClr val="lt1"/>
                </a:solidFill>
              </a:rPr>
              <a:t>Target Internal Expansion Spaces:</a:t>
            </a:r>
            <a:r>
              <a:rPr lang="en-US" sz="1300">
                <a:solidFill>
                  <a:schemeClr val="lt1"/>
                </a:solidFill>
              </a:rPr>
              <a:t> Focus pruning operations on the internal expansion layers of inverted residual structures. These regions contain high channel redundancy and can be modified without altering residual block boundaries.</a:t>
            </a:r>
            <a:endParaRPr sz="1300">
              <a:solidFill>
                <a:schemeClr val="lt1"/>
              </a:solidFill>
            </a:endParaRPr>
          </a:p>
          <a:p>
            <a:pPr indent="-311150" lvl="0" marL="457200" rtl="0" algn="l">
              <a:lnSpc>
                <a:spcPct val="150000"/>
              </a:lnSpc>
              <a:spcBef>
                <a:spcPts val="0"/>
              </a:spcBef>
              <a:spcAft>
                <a:spcPts val="0"/>
              </a:spcAft>
              <a:buClr>
                <a:schemeClr val="lt1"/>
              </a:buClr>
              <a:buSzPts val="1300"/>
              <a:buAutoNum type="arabicPeriod"/>
            </a:pPr>
            <a:r>
              <a:rPr b="1" lang="en-US" sz="1300">
                <a:solidFill>
                  <a:schemeClr val="lt1"/>
                </a:solidFill>
              </a:rPr>
              <a:t>Incorporate Post-Pruning Fine-Tuning:</a:t>
            </a:r>
            <a:r>
              <a:rPr lang="en-US" sz="1300">
                <a:solidFill>
                  <a:schemeClr val="lt1"/>
                </a:solidFill>
              </a:rPr>
              <a:t> Always integrate a targeted fine-tuning phase with a reduced learning rate following structural compression to recover accuracy lost during filter excision.</a:t>
            </a:r>
            <a:endParaRPr sz="1300">
              <a:solidFill>
                <a:schemeClr val="lt1"/>
              </a:solidFill>
            </a:endParaRPr>
          </a:p>
          <a:p>
            <a:pPr indent="-311150" lvl="0" marL="457200" rtl="0" algn="l">
              <a:lnSpc>
                <a:spcPct val="150000"/>
              </a:lnSpc>
              <a:spcBef>
                <a:spcPts val="0"/>
              </a:spcBef>
              <a:spcAft>
                <a:spcPts val="0"/>
              </a:spcAft>
              <a:buClr>
                <a:schemeClr val="lt1"/>
              </a:buClr>
              <a:buSzPts val="1300"/>
              <a:buAutoNum type="arabicPeriod"/>
            </a:pPr>
            <a:r>
              <a:rPr b="1" lang="en-US" sz="1300">
                <a:solidFill>
                  <a:schemeClr val="lt1"/>
                </a:solidFill>
              </a:rPr>
              <a:t>Optimize for Moderate Compression:</a:t>
            </a:r>
            <a:r>
              <a:rPr lang="en-US" sz="1300">
                <a:solidFill>
                  <a:schemeClr val="lt1"/>
                </a:solidFill>
              </a:rPr>
              <a:t> Target compression ratios between 30% and 40% to maximize hardware efficiency while leveraging the regularization effects that improve model generalization.</a:t>
            </a:r>
            <a:endParaRPr sz="1125">
              <a:solidFill>
                <a:schemeClr val="lt1"/>
              </a:solidFill>
              <a:latin typeface="DM Sans"/>
              <a:ea typeface="DM Sans"/>
              <a:cs typeface="DM Sans"/>
              <a:sym typeface="DM Sans"/>
            </a:endParaRPr>
          </a:p>
        </p:txBody>
      </p:sp>
      <p:sp>
        <p:nvSpPr>
          <p:cNvPr id="517" name="Google Shape;517;p36"/>
          <p:cNvSpPr txBox="1"/>
          <p:nvPr/>
        </p:nvSpPr>
        <p:spPr>
          <a:xfrm>
            <a:off x="10820400" y="6534150"/>
            <a:ext cx="6096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DM Sans"/>
                <a:ea typeface="DM Sans"/>
                <a:cs typeface="DM Sans"/>
                <a:sym typeface="DM Sans"/>
              </a:rPr>
              <a:t>Slide 14 of 14</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